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[David]</a:t>
            </a:r>
          </a:p>
          <a:p>
            <a:r>
              <a:t>Buenas tardes. Somos David Domínguez, Jonathan Díaz y Gabriel Bran, y les presentamos nuestro proyecto final de Deep Learning. Empezamos con una pregunta: cuando una red neuronal nos da una explicación de su predicción, ¿podemos creerle? En casi todos los problemas reales no hay forma de comprobarlo. Nosotros construimos un problema donde sí: un simulador de civilizaciones, una red que predice si cada civilización sobrevive, y explicaciones que comprobamos contra el propio simulador. Yo, David, presento el problema y el simulador; Jonathan, los datos y los modelos; Gabriel, las explicaciones y su verificación; y cierro con las conclusiones.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[David]</a:t>
            </a:r>
          </a:p>
          <a:p>
            <a:r>
              <a:t>Muchos sistemas científicos —clima, epidemias, ecología— se estudian con simuladores que son lentos y caros. Por eso se entrenan redes neuronales como modelos sustitutos: aprenden a imitar al simulador y responden al instante. El problema es que una red es una caja negra. Existen métodos de explicabilidad, como SHAP o Integrated Gradients, que dicen qué factores influyeron. Pero casi nunca existe una explicación verdadera con la cual compararlas, así que no sabemos si son correctas o solo convincentes. Nuestra idea: usar un problema donde el mecanismo real sí está disponible. El simulador nos deja intervenir un factor y ver qué pasa de verdad. Entonces la pregunta del proyecto no es solo predecir, sino medir qué tan fieles son las explicaciones.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[David]</a:t>
            </a:r>
          </a:p>
          <a:p>
            <a:r>
              <a:t>El simulador está basado en HANDY, un modelo publicado en 2014 en Ecological Economics. Tiene cuatro variables: plebeyos, élites, naturaleza y riqueza. La naturaleza se regenera, la población la agota para producir riqueza, y si la riqueza no alcanza para el consumo mínimo hay hambruna. Verificamos las ecuaciones contra el artículo original y al hacerlo encontramos un error nuestro: habíamos escrito mal la mortalidad de las élites. Lo corregimos, agregamos una prueba unitaria y regeneramos todo el dataset. Con las ecuaciones correctas reproducimos los escenarios del paper: equilibrio, oscilaciones, ciclos de colapso y los colapsos por desigualdad y por agotamiento de la naturaleza. Una salvedad honesta: el umbral exacto del colapso irreversible igualitario depende del integrador, y no lo igualamos con exactitud. Lo extendimos con temperatura, agua y eventos extremos aleatorios, hasta tener once factores. Cuatro son accionables, o sea palancas de política: depleción, desigualdad, consumo y eficiencia hídrica. Los demás son datos del entorno. Colapso significa que la población cae por debajo del diez por ciento de su pico.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[Jonathan]</a:t>
            </a:r>
          </a:p>
          <a:p>
            <a:r>
              <a:t>Gracias, David. Con el simulador generamos 50,000 planetas, muestreando las once condiciones con Latin Hypercube. Ajustamos los rangos para que la frontera no fuera trivial: la supervivencia quedó en 49.6%. La generación tarda unos diez segundos porque el simulador está vectorizado. El split es 70, 15 y 15 por planeta, y la normalización se ajusta solo con train. Como los eventos extremos son aleatorios, las mismas condiciones pueden dar resultados distintos. Por eso, para 500 planetas de test corrimos 32 réplicas con distintas semillas y obtuvimos la probabilidad verdadera de supervivencia. En el 31% de esos planetas la probabilidad es intermedia, o sea que hay incertidumbre real. Esta probabilidad verdadera nos sirve para evaluar la calibración de los modelos y, después, como verdad para las explicaciones. A la derecha ven tres planetas que sobreviven y tres que colapsan; las franjas naranja son eventos extremos.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[Jonathan]</a:t>
            </a:r>
          </a:p>
          <a:p>
            <a:r>
              <a:t>Planteamos dos tareas. En la tarea a, un MLP lee las once condiciones iniciales y predice la probabilidad de supervivencia. Usa dropout, AdamW y early stopping, como vimos en la sesión ocho. En la tarea b, una LSTM, de la sesión tres, lee los primeros k por ciento de la trayectoria junto con los parámetros, como alerta temprana. La entrenamos con truncamiento aleatorio de k, así un solo modelo sirve para cualquier ventana. Para no medir una ventaja trivial, solo evaluamos planetas que siguen vivos al final de la ventana, y reportamos cuántos quedan fuera. Exigimos que la red demuestre que aporta algo: comparamos con regresión logística y con gradient boosting, LightGBM. Hicimos búsqueda de hiperparámetros, entrenamos con 5 semillas y calculamos intervalos de confianza con bootstrap pareado sobre los planetas de test.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[Jonathan]</a:t>
            </a:r>
          </a:p>
          <a:p>
            <a:r>
              <a:t>Resultados de la tarea a, con media y desviación sobre 5 semillas. La regresión logística llega a ROC-AUC de 0.73: la frontera es muy no lineal. LightGBM obtiene 0.966 y el MLP 0.973. La diferencia del MLP con LightGBM es de +0.0062 de AUC, con intervalo de confianza de +0.0044 a +0.0080; como el intervalo no incluye cero, la ventaja es real, aunque pequeña. El MLP también está mejor calibrado y su error contra la probabilidad verdadera Monte Carlo es de 0.054. Para la tarea b, la gráfica muestra el desempeño al observar más trayectoria. Con k igual a cero la LSTM solo ve los parámetros. En ventanas largas, de sesenta por ciento, la LSTM alcanza 0.987, LightGBM con resúmenes 0.987 y el MLP que no ve la trayectoria 0.965. Entre la LSTM y LightGBM, empatan (diferencia +0.0003, intervalo -0.0014 a +0.0019). Sin parámetros estáticos, la LSTM parte de 0.57, o sea casi azar, y sube a 0.98: la trayectoria sola acaba informando, pero con poca ventana los parámetros son indispensables. Es importante aclarar que entre distintos k no se pueden comparar las métricas directamente, porque cambia la población evaluada.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[Gabriel]</a:t>
            </a:r>
          </a:p>
          <a:p>
            <a:r>
              <a:t>Gracias, Jonathan. Ahora la parte central del proyecto. Calculamos tres explicaciones sobre el MLP y el boosting: SHAP, que con once factores calculamos de forma exacta, Integrated Gradients con Captum, y TreeSHAP sobre LightGBM. Algo clave: todos usan el mismo baseline, el planeta medio de entrenamiento, y el mismo espacio de salida, el logit de supervivencia. Así las comparaciones son justas. Comprobamos que SHAP exacto coincide con KernelSHAP y que cada método cumple su propiedad de completitud. Pero que las explicaciones coincidan entre sí no prueba que sean correctas. Por eso las verificamos de cuatro maneras: uno, intervenir un factor en el modelo; dos, intervenirlo en el simulador, con sesenta y cuatro réplicas y los mismos números aleatorios para que la comparación tenga poco ruido; tres, curvas de eliminación: si devolvemos al valor base los factores en el orden que dice la explicación, el resultado debe degradarse más rápido que con un orden aleatorio; y cuatro, una prueba de cordura de Adebayo y colaboradores: si destruimos el modelo, la explicación debe dejar de concordar con el simulador.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[Gabriel]</a:t>
            </a:r>
          </a:p>
          <a:p>
            <a:r>
              <a:t>Resultados de la fidelidad. En la gráfica, las barras naranja comparan cada atribución con el efecto real en el simulador. Con planetas cercanos a la frontera de decisión, la correlación de Spearman por planeta es de 0.67 para SHAP, 0.69 para Integrated Gradients y 0.63 para TreeSHAP; con planetas Monte Carlo aleatorios, entre 0.58 y 0.64. Es decir, concuerdan bastante, pero lejos de perfecto. El signo coincide en cerca de 91% de los casos con efecto real, pero el factor más importante solo coincide en 50% a 61%. Parte del error viene del propio modelo: la línea azul indica que incluso el efecto que el MLP predice por sí mismo solo llega a 0.82 de Spearman con el simulador. En las curvas de eliminación, quitar factores en el orden de SHAP cambia la probabilidad real en -0.27 en promedio, mientras que el orden aleatorio la cambia en +0.17: las explicaciones sí apuntan a lo que importa. Y la prueba de cordura pasa: con el modelo aleatorizado la concordancia con el simulador cae de 0.65 a -0.13. La conclusión honesta: las explicaciones son útiles y dependen del modelo, pero no son una verdad; hay que verificarlas.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[Gabriel]</a:t>
            </a:r>
          </a:p>
          <a:p>
            <a:r>
              <a:t>Una explicación útil debería permitir actuar. Por eso buscamos contrafactuales: el cambio mínimo en las palancas accionables —depleción, desigualdad, consumo y eficiencia hídrica— que lleva el planeta a sobrevivir. Los factores del entorno, como la temperatura o los eventos, no se tocan. Los aplicamos a los planetas que el modelo predice que colapsarán, y los verificamos en el simulador. El método de gradiente resuelve el 100% de los casos; en el simulador, el 90% de los contrafactuales realmente sobrevive, y la probabilidad real pasa de 0.07 a 0.83, con 2.0 palancas cambiadas en promedio. Cambiar una sola palanca resuelve solo el 87% de los casos. Ahora les mostramos la aplicación en Streamlit: movemos los factores de un planeta, vemos la simulación con sus réplicas, la explicación SHAP y pedimos un contrafactual que el simulador verifica. [DEMO EN VIVO: elegir el escenario 'Sobreexplotación (δ alto)', mostrar el colapso, abrir la pestaña de explicación y pulsar 'Buscar contrafactual'.]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[David]</a:t>
            </a:r>
          </a:p>
          <a:p>
            <a:r>
              <a:t>Para cerrar. Primero, el modelo: la red sí aporta frente a los baselines en la tarea a, con una ventaja pequeña pero con intervalo de confianza que excluye cero; la regresión logística, en cambio, falla. En alerta temprana, la trayectoria ayuda sobre todo en ventanas largas. Segundo, las explicaciones: concuerdan con la realidad del simulador de forma moderada, mejor que el azar y que un orden aleatorio, y pasan la prueba de cordura, pero no son una verdad. Tercero, los contrafactuales verificados con el simulador funcionan en la mayoría de casos. Entre las limitaciones: los efectos de una intervención individual no capturan interacciones; las constantes de temperatura y agua son supuestos nuestros; y no reprodujimos con exactitud el umbral del colapso irreversible del paper. Sobre el uso de la IA: la usamos para escribir código y borradores, y está documentado en el repositorio, con lo que funcionó y lo que falló. El caso más importante: al verificar contra el paper original encontramos un error en la mortalidad de las élites que la IA había introducido; lo detectamos, lo corregimos con una prueba unitaria y rehicimos todos los resultados. Lección: la IA acelera, pero hay que verificar contra la fuente. Gracias; quedamos atentos a sus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6F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326880" cy="822960"/>
          </a:xfrm>
          <a:prstGeom prst="rect">
            <a:avLst/>
          </a:prstGeom>
          <a:noFill/>
        </p:spPr>
        <p:txBody>
          <a:bodyPr wrap="square" anchor="t">
            <a:spAutoFit/>
          </a:bodyPr>
          <a:lstStyle/>
          <a:p>
            <a:pPr algn="l"/>
            <a:r>
              <a:rPr sz="2800" b="1">
                <a:solidFill>
                  <a:srgbClr val="1F2A44"/>
                </a:solidFill>
                <a:latin typeface="Calibri"/>
              </a:rPr>
              <a:t>Simulador de mundos habitables</a:t>
            </a:r>
          </a:p>
        </p:txBody>
      </p:sp>
      <p:sp>
        <p:nvSpPr>
          <p:cNvPr id="4" name="Rounded Rectangle 3"/>
          <p:cNvSpPr/>
          <p:nvPr/>
        </p:nvSpPr>
        <p:spPr>
          <a:xfrm>
            <a:off x="9966960" y="347472"/>
            <a:ext cx="1828800" cy="411480"/>
          </a:xfrm>
          <a:prstGeom prst="roundRect">
            <a:avLst/>
          </a:prstGeom>
          <a:solidFill>
            <a:srgbClr val="2F6FD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Habla: David</a:t>
            </a:r>
          </a:p>
        </p:txBody>
      </p:sp>
      <p:sp>
        <p:nvSpPr>
          <p:cNvPr id="5" name="TextBox 4"/>
          <p:cNvSpPr txBox="1"/>
          <p:nvPr/>
        </p:nvSpPr>
        <p:spPr>
          <a:xfrm>
            <a:off x="502920" y="6446520"/>
            <a:ext cx="5486400" cy="274320"/>
          </a:xfrm>
          <a:prstGeom prst="rect">
            <a:avLst/>
          </a:prstGeom>
          <a:noFill/>
        </p:spPr>
        <p:txBody>
          <a:bodyPr wrap="square" anchor="t">
            <a:spAutoFit/>
          </a:bodyPr>
          <a:lstStyle/>
          <a:p>
            <a:pPr algn="l"/>
            <a:r>
              <a:rPr sz="1000" b="0">
                <a:solidFill>
                  <a:srgbClr val="555B6B"/>
                </a:solidFill>
                <a:latin typeface="Calibri"/>
              </a:rPr>
              <a:t>Deep Learning · UVG · Proyecto final</a:t>
            </a:r>
          </a:p>
        </p:txBody>
      </p:sp>
      <p:sp>
        <p:nvSpPr>
          <p:cNvPr id="6" name="TextBox 5"/>
          <p:cNvSpPr txBox="1"/>
          <p:nvPr/>
        </p:nvSpPr>
        <p:spPr>
          <a:xfrm>
            <a:off x="10881360" y="6446520"/>
            <a:ext cx="914400" cy="274320"/>
          </a:xfrm>
          <a:prstGeom prst="rect">
            <a:avLst/>
          </a:prstGeom>
          <a:noFill/>
        </p:spPr>
        <p:txBody>
          <a:bodyPr wrap="square" anchor="t">
            <a:spAutoFit/>
          </a:bodyPr>
          <a:lstStyle/>
          <a:p>
            <a:pPr algn="r"/>
            <a:r>
              <a:rPr sz="1000" b="0">
                <a:solidFill>
                  <a:srgbClr val="555B6B"/>
                </a:solidFill>
                <a:latin typeface="Calibri"/>
              </a:rPr>
              <a:t>1 / 10</a:t>
            </a:r>
          </a:p>
        </p:txBody>
      </p:sp>
      <p:sp>
        <p:nvSpPr>
          <p:cNvPr id="7" name="TextBox 6"/>
          <p:cNvSpPr txBox="1"/>
          <p:nvPr/>
        </p:nvSpPr>
        <p:spPr>
          <a:xfrm>
            <a:off x="502920" y="1234440"/>
            <a:ext cx="10515600" cy="822960"/>
          </a:xfrm>
          <a:prstGeom prst="rect">
            <a:avLst/>
          </a:prstGeom>
          <a:noFill/>
        </p:spPr>
        <p:txBody>
          <a:bodyPr wrap="square" anchor="t">
            <a:spAutoFit/>
          </a:bodyPr>
          <a:lstStyle/>
          <a:p>
            <a:pPr algn="l"/>
            <a:r>
              <a:rPr sz="2200" b="0">
                <a:solidFill>
                  <a:srgbClr val="555B6B"/>
                </a:solidFill>
                <a:latin typeface="Calibri"/>
              </a:rPr>
              <a:t>Predicción de supervivencia con modelos sustitutos y explicabilidad verificable</a:t>
            </a:r>
          </a:p>
        </p:txBody>
      </p:sp>
      <p:sp>
        <p:nvSpPr>
          <p:cNvPr id="8" name="Rounded Rectangle 7"/>
          <p:cNvSpPr/>
          <p:nvPr/>
        </p:nvSpPr>
        <p:spPr>
          <a:xfrm>
            <a:off x="502920" y="2468880"/>
            <a:ext cx="11155680" cy="1188720"/>
          </a:xfrm>
          <a:prstGeom prst="round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FFFFFF"/>
                </a:solidFill>
                <a:latin typeface="Calibri"/>
              </a:rPr>
              <a:t>¿Podemos creerle a una explicación?</a:t>
            </a:r>
          </a:p>
        </p:txBody>
      </p:sp>
      <p:sp>
        <p:nvSpPr>
          <p:cNvPr id="9" name="TextBox 8"/>
          <p:cNvSpPr txBox="1"/>
          <p:nvPr/>
        </p:nvSpPr>
        <p:spPr>
          <a:xfrm>
            <a:off x="502920" y="4114800"/>
            <a:ext cx="10972800" cy="457200"/>
          </a:xfrm>
          <a:prstGeom prst="rect">
            <a:avLst/>
          </a:prstGeom>
          <a:noFill/>
        </p:spPr>
        <p:txBody>
          <a:bodyPr wrap="square" anchor="t">
            <a:spAutoFit/>
          </a:bodyPr>
          <a:lstStyle/>
          <a:p>
            <a:pPr algn="l"/>
            <a:r>
              <a:rPr sz="2200" b="0">
                <a:solidFill>
                  <a:srgbClr val="1F2A44"/>
                </a:solidFill>
                <a:latin typeface="Calibri"/>
              </a:rPr>
              <a:t>David Domínguez · Jonathan Díaz · Gabriel Bran</a:t>
            </a:r>
          </a:p>
        </p:txBody>
      </p:sp>
      <p:sp>
        <p:nvSpPr>
          <p:cNvPr id="10" name="TextBox 9"/>
          <p:cNvSpPr txBox="1"/>
          <p:nvPr/>
        </p:nvSpPr>
        <p:spPr>
          <a:xfrm>
            <a:off x="502920" y="4663440"/>
            <a:ext cx="10972800" cy="457200"/>
          </a:xfrm>
          <a:prstGeom prst="rect">
            <a:avLst/>
          </a:prstGeom>
          <a:noFill/>
        </p:spPr>
        <p:txBody>
          <a:bodyPr wrap="square" anchor="t">
            <a:spAutoFit/>
          </a:bodyPr>
          <a:lstStyle/>
          <a:p>
            <a:pPr algn="l"/>
            <a:r>
              <a:rPr sz="1600" b="0">
                <a:solidFill>
                  <a:srgbClr val="555B6B"/>
                </a:solidFill>
                <a:latin typeface="Calibri"/>
              </a:rPr>
              <a:t>Deep Learning · Sección 10 · Universidad del Valle de Guatemala · 2 de noviembre de 2026</a:t>
            </a:r>
          </a:p>
        </p:txBody>
      </p:sp>
      <p:sp>
        <p:nvSpPr>
          <p:cNvPr id="11" name="Rounded Rectangle 10"/>
          <p:cNvSpPr/>
          <p:nvPr/>
        </p:nvSpPr>
        <p:spPr>
          <a:xfrm>
            <a:off x="502920" y="5486400"/>
            <a:ext cx="3611880" cy="548640"/>
          </a:xfrm>
          <a:prstGeom prst="roundRect">
            <a:avLst/>
          </a:prstGeom>
          <a:solidFill>
            <a:srgbClr val="2F6FD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David: problema y simulador</a:t>
            </a:r>
          </a:p>
        </p:txBody>
      </p:sp>
      <p:sp>
        <p:nvSpPr>
          <p:cNvPr id="12" name="Rounded Rectangle 11"/>
          <p:cNvSpPr/>
          <p:nvPr/>
        </p:nvSpPr>
        <p:spPr>
          <a:xfrm>
            <a:off x="4297680" y="5486400"/>
            <a:ext cx="3611880" cy="548640"/>
          </a:xfrm>
          <a:prstGeom prst="roundRect">
            <a:avLst/>
          </a:prstGeom>
          <a:solidFill>
            <a:srgbClr val="2E9D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Jonathan: datos y modelos</a:t>
            </a:r>
          </a:p>
        </p:txBody>
      </p:sp>
      <p:sp>
        <p:nvSpPr>
          <p:cNvPr id="13" name="Rounded Rectangle 12"/>
          <p:cNvSpPr/>
          <p:nvPr/>
        </p:nvSpPr>
        <p:spPr>
          <a:xfrm>
            <a:off x="8092440" y="5486400"/>
            <a:ext cx="3611880" cy="548640"/>
          </a:xfrm>
          <a:prstGeom prst="roundRect">
            <a:avLst/>
          </a:prstGeom>
          <a:solidFill>
            <a:srgbClr val="E883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Gabriel: explicaciones y verificación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6F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326880" cy="822960"/>
          </a:xfrm>
          <a:prstGeom prst="rect">
            <a:avLst/>
          </a:prstGeom>
          <a:noFill/>
        </p:spPr>
        <p:txBody>
          <a:bodyPr wrap="square" anchor="t">
            <a:spAutoFit/>
          </a:bodyPr>
          <a:lstStyle/>
          <a:p>
            <a:pPr algn="l"/>
            <a:r>
              <a:rPr sz="2800" b="1">
                <a:solidFill>
                  <a:srgbClr val="1F2A44"/>
                </a:solidFill>
                <a:latin typeface="Calibri"/>
              </a:rPr>
              <a:t>El problema: sustitutos que no sabemos explicar</a:t>
            </a:r>
          </a:p>
        </p:txBody>
      </p:sp>
      <p:sp>
        <p:nvSpPr>
          <p:cNvPr id="4" name="Rounded Rectangle 3"/>
          <p:cNvSpPr/>
          <p:nvPr/>
        </p:nvSpPr>
        <p:spPr>
          <a:xfrm>
            <a:off x="9966960" y="347472"/>
            <a:ext cx="1828800" cy="411480"/>
          </a:xfrm>
          <a:prstGeom prst="roundRect">
            <a:avLst/>
          </a:prstGeom>
          <a:solidFill>
            <a:srgbClr val="2F6FD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Habla: David</a:t>
            </a:r>
          </a:p>
        </p:txBody>
      </p:sp>
      <p:sp>
        <p:nvSpPr>
          <p:cNvPr id="5" name="TextBox 4"/>
          <p:cNvSpPr txBox="1"/>
          <p:nvPr/>
        </p:nvSpPr>
        <p:spPr>
          <a:xfrm>
            <a:off x="502920" y="6446520"/>
            <a:ext cx="5486400" cy="274320"/>
          </a:xfrm>
          <a:prstGeom prst="rect">
            <a:avLst/>
          </a:prstGeom>
          <a:noFill/>
        </p:spPr>
        <p:txBody>
          <a:bodyPr wrap="square" anchor="t">
            <a:spAutoFit/>
          </a:bodyPr>
          <a:lstStyle/>
          <a:p>
            <a:pPr algn="l"/>
            <a:r>
              <a:rPr sz="1000" b="0">
                <a:solidFill>
                  <a:srgbClr val="555B6B"/>
                </a:solidFill>
                <a:latin typeface="Calibri"/>
              </a:rPr>
              <a:t>Deep Learning · UVG · Proyecto final</a:t>
            </a:r>
          </a:p>
        </p:txBody>
      </p:sp>
      <p:sp>
        <p:nvSpPr>
          <p:cNvPr id="6" name="TextBox 5"/>
          <p:cNvSpPr txBox="1"/>
          <p:nvPr/>
        </p:nvSpPr>
        <p:spPr>
          <a:xfrm>
            <a:off x="10881360" y="6446520"/>
            <a:ext cx="914400" cy="274320"/>
          </a:xfrm>
          <a:prstGeom prst="rect">
            <a:avLst/>
          </a:prstGeom>
          <a:noFill/>
        </p:spPr>
        <p:txBody>
          <a:bodyPr wrap="square" anchor="t">
            <a:spAutoFit/>
          </a:bodyPr>
          <a:lstStyle/>
          <a:p>
            <a:pPr algn="r"/>
            <a:r>
              <a:rPr sz="1000" b="0">
                <a:solidFill>
                  <a:srgbClr val="555B6B"/>
                </a:solidFill>
                <a:latin typeface="Calibri"/>
              </a:rPr>
              <a:t>2 / 10</a:t>
            </a:r>
          </a:p>
        </p:txBody>
      </p:sp>
      <p:sp>
        <p:nvSpPr>
          <p:cNvPr id="7" name="TextBox 6"/>
          <p:cNvSpPr txBox="1"/>
          <p:nvPr/>
        </p:nvSpPr>
        <p:spPr>
          <a:xfrm>
            <a:off x="502920" y="1234440"/>
            <a:ext cx="11155680" cy="1828800"/>
          </a:xfrm>
          <a:prstGeom prst="rect">
            <a:avLst/>
          </a:prstGeom>
          <a:noFill/>
        </p:spPr>
        <p:txBody>
          <a:bodyPr wrap="square">
            <a:spAutoFit/>
          </a:bodyPr>
          <a:lstStyle/>
          <a:p>
            <a:pPr>
              <a:spcAft>
                <a:spcPts val="600"/>
              </a:spcAft>
            </a:pPr>
            <a:r>
              <a:rPr sz="2000">
                <a:solidFill>
                  <a:srgbClr val="1F2A44"/>
                </a:solidFill>
                <a:latin typeface="Calibri"/>
              </a:rPr>
              <a:t>•  Los simuladores científicos son caros: se usan redes como modelos sustitutos (surrogates).</a:t>
            </a:r>
          </a:p>
          <a:p>
            <a:pPr>
              <a:spcAft>
                <a:spcPts val="600"/>
              </a:spcAft>
            </a:pPr>
            <a:r>
              <a:rPr sz="2000">
                <a:solidFill>
                  <a:srgbClr val="1F2A44"/>
                </a:solidFill>
                <a:latin typeface="Calibri"/>
              </a:rPr>
              <a:t>•  Las explicaciones (SHAP, IG, contrafactuales) casi nunca tienen una verdad de referencia.</a:t>
            </a:r>
          </a:p>
          <a:p>
            <a:pPr>
              <a:spcAft>
                <a:spcPts val="600"/>
              </a:spcAft>
            </a:pPr>
            <a:r>
              <a:rPr sz="2000">
                <a:solidFill>
                  <a:srgbClr val="1F2A44"/>
                </a:solidFill>
                <a:latin typeface="Calibri"/>
              </a:rPr>
              <a:t>•  Aquí sí: el simulador es el mecanismo real, así que podemos intervenir y comprobar.</a:t>
            </a:r>
          </a:p>
        </p:txBody>
      </p:sp>
      <p:sp>
        <p:nvSpPr>
          <p:cNvPr id="8" name="Rounded Rectangle 7"/>
          <p:cNvSpPr/>
          <p:nvPr/>
        </p:nvSpPr>
        <p:spPr>
          <a:xfrm>
            <a:off x="548640" y="3429000"/>
            <a:ext cx="2377440" cy="1097280"/>
          </a:xfrm>
          <a:prstGeom prst="roundRect">
            <a:avLst/>
          </a:prstGeom>
          <a:solidFill>
            <a:srgbClr val="F1F3F8"/>
          </a:solidFill>
          <a:ln w="19050">
            <a:solidFill>
              <a:srgbClr val="2F6FD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2A44"/>
                </a:solidFill>
                <a:latin typeface="Calibri"/>
              </a:rPr>
              <a:t>Simulador HANDY
(mecanismo real)</a:t>
            </a:r>
          </a:p>
        </p:txBody>
      </p:sp>
      <p:sp>
        <p:nvSpPr>
          <p:cNvPr id="9" name="Right Arrow 8"/>
          <p:cNvSpPr/>
          <p:nvPr/>
        </p:nvSpPr>
        <p:spPr>
          <a:xfrm>
            <a:off x="3017520" y="3794760"/>
            <a:ext cx="731520" cy="320040"/>
          </a:xfrm>
          <a:prstGeom prst="rightArrow">
            <a:avLst/>
          </a:prstGeom>
          <a:solidFill>
            <a:srgbClr val="555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0" y="4178808"/>
            <a:ext cx="1097280" cy="274320"/>
          </a:xfrm>
          <a:prstGeom prst="rect">
            <a:avLst/>
          </a:prstGeom>
          <a:noFill/>
        </p:spPr>
        <p:txBody>
          <a:bodyPr wrap="square" anchor="t">
            <a:spAutoFit/>
          </a:bodyPr>
          <a:lstStyle/>
          <a:p>
            <a:pPr algn="l"/>
            <a:r>
              <a:rPr sz="1000" b="0">
                <a:solidFill>
                  <a:srgbClr val="555B6B"/>
                </a:solidFill>
                <a:latin typeface="Calibri"/>
              </a:rPr>
              <a:t>50 000 planetas</a:t>
            </a:r>
          </a:p>
        </p:txBody>
      </p:sp>
      <p:sp>
        <p:nvSpPr>
          <p:cNvPr id="11" name="Rounded Rectangle 10"/>
          <p:cNvSpPr/>
          <p:nvPr/>
        </p:nvSpPr>
        <p:spPr>
          <a:xfrm>
            <a:off x="3840480" y="3429000"/>
            <a:ext cx="2377440" cy="1097280"/>
          </a:xfrm>
          <a:prstGeom prst="roundRect">
            <a:avLst/>
          </a:prstGeom>
          <a:solidFill>
            <a:srgbClr val="F1F3F8"/>
          </a:solidFill>
          <a:ln w="19050">
            <a:solidFill>
              <a:srgbClr val="2F6FD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2A44"/>
                </a:solidFill>
                <a:latin typeface="Calibri"/>
              </a:rPr>
              <a:t>Red sustituta
(MLP / LSTM)</a:t>
            </a:r>
          </a:p>
        </p:txBody>
      </p:sp>
      <p:sp>
        <p:nvSpPr>
          <p:cNvPr id="12" name="Right Arrow 11"/>
          <p:cNvSpPr/>
          <p:nvPr/>
        </p:nvSpPr>
        <p:spPr>
          <a:xfrm>
            <a:off x="6309360" y="3794760"/>
            <a:ext cx="731520" cy="320040"/>
          </a:xfrm>
          <a:prstGeom prst="rightArrow">
            <a:avLst/>
          </a:prstGeom>
          <a:solidFill>
            <a:srgbClr val="555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4178808"/>
            <a:ext cx="914400" cy="274320"/>
          </a:xfrm>
          <a:prstGeom prst="rect">
            <a:avLst/>
          </a:prstGeom>
          <a:noFill/>
        </p:spPr>
        <p:txBody>
          <a:bodyPr wrap="square" anchor="t">
            <a:spAutoFit/>
          </a:bodyPr>
          <a:lstStyle/>
          <a:p>
            <a:pPr algn="l"/>
            <a:r>
              <a:rPr sz="1000" b="0">
                <a:solidFill>
                  <a:srgbClr val="555B6B"/>
                </a:solidFill>
                <a:latin typeface="Calibri"/>
              </a:rPr>
              <a:t>predicción</a:t>
            </a:r>
          </a:p>
        </p:txBody>
      </p:sp>
      <p:sp>
        <p:nvSpPr>
          <p:cNvPr id="14" name="Rounded Rectangle 13"/>
          <p:cNvSpPr/>
          <p:nvPr/>
        </p:nvSpPr>
        <p:spPr>
          <a:xfrm>
            <a:off x="7132320" y="3429000"/>
            <a:ext cx="2743200" cy="1097280"/>
          </a:xfrm>
          <a:prstGeom prst="roundRect">
            <a:avLst/>
          </a:prstGeom>
          <a:solidFill>
            <a:srgbClr val="F1F3F8"/>
          </a:solidFill>
          <a:ln w="19050">
            <a:solidFill>
              <a:srgbClr val="2F6FD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2A44"/>
                </a:solidFill>
                <a:latin typeface="Calibri"/>
              </a:rPr>
              <a:t>Explicación
(SHAP · IG · contrafactual)</a:t>
            </a:r>
          </a:p>
        </p:txBody>
      </p:sp>
      <p:sp>
        <p:nvSpPr>
          <p:cNvPr id="15" name="Rounded Rectangle 14"/>
          <p:cNvSpPr/>
          <p:nvPr/>
        </p:nvSpPr>
        <p:spPr>
          <a:xfrm>
            <a:off x="2011680" y="4983480"/>
            <a:ext cx="7863840" cy="868680"/>
          </a:xfrm>
          <a:prstGeom prst="roundRect">
            <a:avLst/>
          </a:prstGeom>
          <a:solidFill>
            <a:srgbClr val="2F6FD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rPr>
              <a:t>¿Intervenir un factor en el simulador cambia el resultado como dice la explicación?</a:t>
            </a:r>
          </a:p>
        </p:txBody>
      </p:sp>
      <p:sp>
        <p:nvSpPr>
          <p:cNvPr id="16" name="Down Arrow 15"/>
          <p:cNvSpPr/>
          <p:nvPr/>
        </p:nvSpPr>
        <p:spPr>
          <a:xfrm>
            <a:off x="8321040" y="4553712"/>
            <a:ext cx="320040" cy="365760"/>
          </a:xfrm>
          <a:prstGeom prst="downArrow">
            <a:avLst/>
          </a:prstGeom>
          <a:solidFill>
            <a:srgbClr val="555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Up Arrow 16"/>
          <p:cNvSpPr/>
          <p:nvPr/>
        </p:nvSpPr>
        <p:spPr>
          <a:xfrm>
            <a:off x="1828800" y="4553712"/>
            <a:ext cx="320040" cy="365760"/>
          </a:xfrm>
          <a:prstGeom prst="upArrow">
            <a:avLst/>
          </a:prstGeom>
          <a:solidFill>
            <a:srgbClr val="555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6F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326880" cy="822960"/>
          </a:xfrm>
          <a:prstGeom prst="rect">
            <a:avLst/>
          </a:prstGeom>
          <a:noFill/>
        </p:spPr>
        <p:txBody>
          <a:bodyPr wrap="square" anchor="t">
            <a:spAutoFit/>
          </a:bodyPr>
          <a:lstStyle/>
          <a:p>
            <a:pPr algn="l"/>
            <a:r>
              <a:rPr sz="2800" b="1">
                <a:solidFill>
                  <a:srgbClr val="1F2A44"/>
                </a:solidFill>
                <a:latin typeface="Calibri"/>
              </a:rPr>
              <a:t>El simulador: HANDY extendido</a:t>
            </a:r>
          </a:p>
        </p:txBody>
      </p:sp>
      <p:sp>
        <p:nvSpPr>
          <p:cNvPr id="4" name="Rounded Rectangle 3"/>
          <p:cNvSpPr/>
          <p:nvPr/>
        </p:nvSpPr>
        <p:spPr>
          <a:xfrm>
            <a:off x="9966960" y="347472"/>
            <a:ext cx="1828800" cy="411480"/>
          </a:xfrm>
          <a:prstGeom prst="roundRect">
            <a:avLst/>
          </a:prstGeom>
          <a:solidFill>
            <a:srgbClr val="2F6FD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Habla: David</a:t>
            </a:r>
          </a:p>
        </p:txBody>
      </p:sp>
      <p:sp>
        <p:nvSpPr>
          <p:cNvPr id="5" name="TextBox 4"/>
          <p:cNvSpPr txBox="1"/>
          <p:nvPr/>
        </p:nvSpPr>
        <p:spPr>
          <a:xfrm>
            <a:off x="502920" y="6446520"/>
            <a:ext cx="5486400" cy="274320"/>
          </a:xfrm>
          <a:prstGeom prst="rect">
            <a:avLst/>
          </a:prstGeom>
          <a:noFill/>
        </p:spPr>
        <p:txBody>
          <a:bodyPr wrap="square" anchor="t">
            <a:spAutoFit/>
          </a:bodyPr>
          <a:lstStyle/>
          <a:p>
            <a:pPr algn="l"/>
            <a:r>
              <a:rPr sz="1000" b="0">
                <a:solidFill>
                  <a:srgbClr val="555B6B"/>
                </a:solidFill>
                <a:latin typeface="Calibri"/>
              </a:rPr>
              <a:t>Deep Learning · UVG · Proyecto final</a:t>
            </a:r>
          </a:p>
        </p:txBody>
      </p:sp>
      <p:sp>
        <p:nvSpPr>
          <p:cNvPr id="6" name="TextBox 5"/>
          <p:cNvSpPr txBox="1"/>
          <p:nvPr/>
        </p:nvSpPr>
        <p:spPr>
          <a:xfrm>
            <a:off x="10881360" y="6446520"/>
            <a:ext cx="914400" cy="274320"/>
          </a:xfrm>
          <a:prstGeom prst="rect">
            <a:avLst/>
          </a:prstGeom>
          <a:noFill/>
        </p:spPr>
        <p:txBody>
          <a:bodyPr wrap="square" anchor="t">
            <a:spAutoFit/>
          </a:bodyPr>
          <a:lstStyle/>
          <a:p>
            <a:pPr algn="r"/>
            <a:r>
              <a:rPr sz="1000" b="0">
                <a:solidFill>
                  <a:srgbClr val="555B6B"/>
                </a:solidFill>
                <a:latin typeface="Calibri"/>
              </a:rPr>
              <a:t>3 / 10</a:t>
            </a:r>
          </a:p>
        </p:txBody>
      </p:sp>
      <p:sp>
        <p:nvSpPr>
          <p:cNvPr id="7" name="TextBox 6"/>
          <p:cNvSpPr txBox="1"/>
          <p:nvPr/>
        </p:nvSpPr>
        <p:spPr>
          <a:xfrm>
            <a:off x="502920" y="1097280"/>
            <a:ext cx="11155680" cy="1645920"/>
          </a:xfrm>
          <a:prstGeom prst="rect">
            <a:avLst/>
          </a:prstGeom>
          <a:noFill/>
        </p:spPr>
        <p:txBody>
          <a:bodyPr wrap="square">
            <a:spAutoFit/>
          </a:bodyPr>
          <a:lstStyle/>
          <a:p>
            <a:pPr>
              <a:spcAft>
                <a:spcPts val="600"/>
              </a:spcAft>
            </a:pPr>
            <a:r>
              <a:rPr sz="1700">
                <a:solidFill>
                  <a:srgbClr val="1F2A44"/>
                </a:solidFill>
                <a:latin typeface="Calibri"/>
              </a:rPr>
              <a:t>•  4 variables (plebeyos, élites, naturaleza, riqueza); ecuaciones verificadas contra el paper de 2014 (y un error nuestro corregido).</a:t>
            </a:r>
          </a:p>
          <a:p>
            <a:pPr>
              <a:spcAft>
                <a:spcPts val="600"/>
              </a:spcAft>
            </a:pPr>
            <a:r>
              <a:rPr sz="1700">
                <a:solidFill>
                  <a:srgbClr val="1F2A44"/>
                </a:solidFill>
                <a:latin typeface="Calibri"/>
              </a:rPr>
              <a:t>•  Extensiones: temperatura, agua y eventos extremos (Poisson) → 11 factores; 4 accionables (δ, κ, s, eficiencia hídrica).</a:t>
            </a:r>
          </a:p>
          <a:p>
            <a:pPr>
              <a:spcAft>
                <a:spcPts val="600"/>
              </a:spcAft>
            </a:pPr>
            <a:r>
              <a:rPr sz="1700">
                <a:solidFill>
                  <a:srgbClr val="1F2A44"/>
                </a:solidFill>
                <a:latin typeface="Calibri"/>
              </a:rPr>
              <a:t>•  Colapso = población &lt; 10 % de su pico (o &lt; 20 % de la inicial) antes del año 600.</a:t>
            </a:r>
          </a:p>
        </p:txBody>
      </p:sp>
      <p:pic>
        <p:nvPicPr>
          <p:cNvPr id="8" name="Picture 7" descr="fig_escenarios_handy.png"/>
          <p:cNvPicPr>
            <a:picLocks noChangeAspect="1"/>
          </p:cNvPicPr>
          <p:nvPr/>
        </p:nvPicPr>
        <p:blipFill>
          <a:blip r:embed="rId3"/>
          <a:stretch>
            <a:fillRect/>
          </a:stretch>
        </p:blipFill>
        <p:spPr>
          <a:xfrm>
            <a:off x="1447800" y="2743200"/>
            <a:ext cx="9265920" cy="36576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9D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326880" cy="822960"/>
          </a:xfrm>
          <a:prstGeom prst="rect">
            <a:avLst/>
          </a:prstGeom>
          <a:noFill/>
        </p:spPr>
        <p:txBody>
          <a:bodyPr wrap="square" anchor="t">
            <a:spAutoFit/>
          </a:bodyPr>
          <a:lstStyle/>
          <a:p>
            <a:pPr algn="l"/>
            <a:r>
              <a:rPr sz="2800" b="1">
                <a:solidFill>
                  <a:srgbClr val="1F2A44"/>
                </a:solidFill>
                <a:latin typeface="Calibri"/>
              </a:rPr>
              <a:t>Datos: 50 000 planetas y una verdad de referencia</a:t>
            </a:r>
          </a:p>
        </p:txBody>
      </p:sp>
      <p:sp>
        <p:nvSpPr>
          <p:cNvPr id="4" name="Rounded Rectangle 3"/>
          <p:cNvSpPr/>
          <p:nvPr/>
        </p:nvSpPr>
        <p:spPr>
          <a:xfrm>
            <a:off x="9966960" y="347472"/>
            <a:ext cx="1828800" cy="411480"/>
          </a:xfrm>
          <a:prstGeom prst="roundRect">
            <a:avLst/>
          </a:prstGeom>
          <a:solidFill>
            <a:srgbClr val="2E9D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Habla: Jonathan</a:t>
            </a:r>
          </a:p>
        </p:txBody>
      </p:sp>
      <p:sp>
        <p:nvSpPr>
          <p:cNvPr id="5" name="TextBox 4"/>
          <p:cNvSpPr txBox="1"/>
          <p:nvPr/>
        </p:nvSpPr>
        <p:spPr>
          <a:xfrm>
            <a:off x="502920" y="6446520"/>
            <a:ext cx="5486400" cy="274320"/>
          </a:xfrm>
          <a:prstGeom prst="rect">
            <a:avLst/>
          </a:prstGeom>
          <a:noFill/>
        </p:spPr>
        <p:txBody>
          <a:bodyPr wrap="square" anchor="t">
            <a:spAutoFit/>
          </a:bodyPr>
          <a:lstStyle/>
          <a:p>
            <a:pPr algn="l"/>
            <a:r>
              <a:rPr sz="1000" b="0">
                <a:solidFill>
                  <a:srgbClr val="555B6B"/>
                </a:solidFill>
                <a:latin typeface="Calibri"/>
              </a:rPr>
              <a:t>Deep Learning · UVG · Proyecto final</a:t>
            </a:r>
          </a:p>
        </p:txBody>
      </p:sp>
      <p:sp>
        <p:nvSpPr>
          <p:cNvPr id="6" name="TextBox 5"/>
          <p:cNvSpPr txBox="1"/>
          <p:nvPr/>
        </p:nvSpPr>
        <p:spPr>
          <a:xfrm>
            <a:off x="10881360" y="6446520"/>
            <a:ext cx="914400" cy="274320"/>
          </a:xfrm>
          <a:prstGeom prst="rect">
            <a:avLst/>
          </a:prstGeom>
          <a:noFill/>
        </p:spPr>
        <p:txBody>
          <a:bodyPr wrap="square" anchor="t">
            <a:spAutoFit/>
          </a:bodyPr>
          <a:lstStyle/>
          <a:p>
            <a:pPr algn="r"/>
            <a:r>
              <a:rPr sz="1000" b="0">
                <a:solidFill>
                  <a:srgbClr val="555B6B"/>
                </a:solidFill>
                <a:latin typeface="Calibri"/>
              </a:rPr>
              <a:t>4 / 10</a:t>
            </a:r>
          </a:p>
        </p:txBody>
      </p:sp>
      <p:sp>
        <p:nvSpPr>
          <p:cNvPr id="7" name="TextBox 6"/>
          <p:cNvSpPr txBox="1"/>
          <p:nvPr/>
        </p:nvSpPr>
        <p:spPr>
          <a:xfrm>
            <a:off x="502920" y="1188720"/>
            <a:ext cx="4663440" cy="4937760"/>
          </a:xfrm>
          <a:prstGeom prst="rect">
            <a:avLst/>
          </a:prstGeom>
          <a:noFill/>
        </p:spPr>
        <p:txBody>
          <a:bodyPr wrap="square">
            <a:spAutoFit/>
          </a:bodyPr>
          <a:lstStyle/>
          <a:p>
            <a:pPr>
              <a:spcAft>
                <a:spcPts val="600"/>
              </a:spcAft>
            </a:pPr>
            <a:r>
              <a:rPr sz="1700">
                <a:solidFill>
                  <a:srgbClr val="1F2A44"/>
                </a:solidFill>
                <a:latin typeface="Calibri"/>
              </a:rPr>
              <a:t>•  50,000 planetas (LHS), 11 factores; supervivencia 49.6%.</a:t>
            </a:r>
          </a:p>
          <a:p>
            <a:pPr>
              <a:spcAft>
                <a:spcPts val="600"/>
              </a:spcAft>
            </a:pPr>
            <a:r>
              <a:rPr sz="1700">
                <a:solidFill>
                  <a:srgbClr val="1F2A44"/>
                </a:solidFill>
                <a:latin typeface="Calibri"/>
              </a:rPr>
              <a:t>•  Split 70/15/15 por planeta; normalización solo con train.</a:t>
            </a:r>
          </a:p>
          <a:p>
            <a:pPr>
              <a:spcAft>
                <a:spcPts val="600"/>
              </a:spcAft>
            </a:pPr>
            <a:r>
              <a:rPr sz="1700">
                <a:solidFill>
                  <a:srgbClr val="1F2A44"/>
                </a:solidFill>
                <a:latin typeface="Calibri"/>
              </a:rPr>
              <a:t>•  Eventos aleatorios → mismas condiciones, resultados distintos.</a:t>
            </a:r>
          </a:p>
          <a:p>
            <a:pPr>
              <a:spcAft>
                <a:spcPts val="600"/>
              </a:spcAft>
            </a:pPr>
            <a:r>
              <a:rPr sz="1700">
                <a:solidFill>
                  <a:srgbClr val="1F2A44"/>
                </a:solidFill>
                <a:latin typeface="Calibri"/>
              </a:rPr>
              <a:t>•  Monte Carlo: 500 planetas de test × 32 réplicas = P(sobrevive | parámetros). En 31% la probabilidad es intermedia.</a:t>
            </a:r>
          </a:p>
        </p:txBody>
      </p:sp>
      <p:pic>
        <p:nvPicPr>
          <p:cNvPr id="8" name="Picture 7" descr="fig_eda_trayectorias.png"/>
          <p:cNvPicPr>
            <a:picLocks noChangeAspect="1"/>
          </p:cNvPicPr>
          <p:nvPr/>
        </p:nvPicPr>
        <p:blipFill>
          <a:blip r:embed="rId3"/>
          <a:stretch>
            <a:fillRect/>
          </a:stretch>
        </p:blipFill>
        <p:spPr>
          <a:xfrm>
            <a:off x="5303520" y="1610750"/>
            <a:ext cx="6492240" cy="2996418"/>
          </a:xfrm>
          <a:prstGeom prst="rect">
            <a:avLst/>
          </a:prstGeom>
        </p:spPr>
      </p:pic>
      <p:pic>
        <p:nvPicPr>
          <p:cNvPr id="9" name="Picture 8" descr="fig_eda_clases_tiempos.png"/>
          <p:cNvPicPr>
            <a:picLocks noChangeAspect="1"/>
          </p:cNvPicPr>
          <p:nvPr/>
        </p:nvPicPr>
        <p:blipFill>
          <a:blip r:embed="rId4"/>
          <a:stretch>
            <a:fillRect/>
          </a:stretch>
        </p:blipFill>
        <p:spPr>
          <a:xfrm>
            <a:off x="6167387" y="4754880"/>
            <a:ext cx="4764505" cy="16459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9D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326880" cy="822960"/>
          </a:xfrm>
          <a:prstGeom prst="rect">
            <a:avLst/>
          </a:prstGeom>
          <a:noFill/>
        </p:spPr>
        <p:txBody>
          <a:bodyPr wrap="square" anchor="t">
            <a:spAutoFit/>
          </a:bodyPr>
          <a:lstStyle/>
          <a:p>
            <a:pPr algn="l"/>
            <a:r>
              <a:rPr sz="2800" b="1">
                <a:solidFill>
                  <a:srgbClr val="1F2A44"/>
                </a:solidFill>
                <a:latin typeface="Calibri"/>
              </a:rPr>
              <a:t>Modelos: la red tiene que ganarse su lugar</a:t>
            </a:r>
          </a:p>
        </p:txBody>
      </p:sp>
      <p:sp>
        <p:nvSpPr>
          <p:cNvPr id="4" name="Rounded Rectangle 3"/>
          <p:cNvSpPr/>
          <p:nvPr/>
        </p:nvSpPr>
        <p:spPr>
          <a:xfrm>
            <a:off x="9966960" y="347472"/>
            <a:ext cx="1828800" cy="411480"/>
          </a:xfrm>
          <a:prstGeom prst="roundRect">
            <a:avLst/>
          </a:prstGeom>
          <a:solidFill>
            <a:srgbClr val="2E9D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Habla: Jonathan</a:t>
            </a:r>
          </a:p>
        </p:txBody>
      </p:sp>
      <p:sp>
        <p:nvSpPr>
          <p:cNvPr id="5" name="TextBox 4"/>
          <p:cNvSpPr txBox="1"/>
          <p:nvPr/>
        </p:nvSpPr>
        <p:spPr>
          <a:xfrm>
            <a:off x="502920" y="6446520"/>
            <a:ext cx="5486400" cy="274320"/>
          </a:xfrm>
          <a:prstGeom prst="rect">
            <a:avLst/>
          </a:prstGeom>
          <a:noFill/>
        </p:spPr>
        <p:txBody>
          <a:bodyPr wrap="square" anchor="t">
            <a:spAutoFit/>
          </a:bodyPr>
          <a:lstStyle/>
          <a:p>
            <a:pPr algn="l"/>
            <a:r>
              <a:rPr sz="1000" b="0">
                <a:solidFill>
                  <a:srgbClr val="555B6B"/>
                </a:solidFill>
                <a:latin typeface="Calibri"/>
              </a:rPr>
              <a:t>Deep Learning · UVG · Proyecto final</a:t>
            </a:r>
          </a:p>
        </p:txBody>
      </p:sp>
      <p:sp>
        <p:nvSpPr>
          <p:cNvPr id="6" name="TextBox 5"/>
          <p:cNvSpPr txBox="1"/>
          <p:nvPr/>
        </p:nvSpPr>
        <p:spPr>
          <a:xfrm>
            <a:off x="10881360" y="6446520"/>
            <a:ext cx="914400" cy="274320"/>
          </a:xfrm>
          <a:prstGeom prst="rect">
            <a:avLst/>
          </a:prstGeom>
          <a:noFill/>
        </p:spPr>
        <p:txBody>
          <a:bodyPr wrap="square" anchor="t">
            <a:spAutoFit/>
          </a:bodyPr>
          <a:lstStyle/>
          <a:p>
            <a:pPr algn="r"/>
            <a:r>
              <a:rPr sz="1000" b="0">
                <a:solidFill>
                  <a:srgbClr val="555B6B"/>
                </a:solidFill>
                <a:latin typeface="Calibri"/>
              </a:rPr>
              <a:t>5 / 10</a:t>
            </a:r>
          </a:p>
        </p:txBody>
      </p:sp>
      <p:sp>
        <p:nvSpPr>
          <p:cNvPr id="7" name="Rounded Rectangle 6"/>
          <p:cNvSpPr/>
          <p:nvPr/>
        </p:nvSpPr>
        <p:spPr>
          <a:xfrm>
            <a:off x="548640" y="1325880"/>
            <a:ext cx="2377440" cy="822960"/>
          </a:xfrm>
          <a:prstGeom prst="roundRect">
            <a:avLst/>
          </a:prstGeom>
          <a:solidFill>
            <a:srgbClr val="F1F3F8"/>
          </a:solidFill>
          <a:ln w="19050">
            <a:solidFill>
              <a:srgbClr val="2E9D6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2A44"/>
                </a:solidFill>
                <a:latin typeface="Calibri"/>
              </a:rPr>
              <a:t>11 factores del planeta</a:t>
            </a:r>
          </a:p>
        </p:txBody>
      </p:sp>
      <p:sp>
        <p:nvSpPr>
          <p:cNvPr id="8" name="Right Arrow 7"/>
          <p:cNvSpPr/>
          <p:nvPr/>
        </p:nvSpPr>
        <p:spPr>
          <a:xfrm>
            <a:off x="3017520" y="1581912"/>
            <a:ext cx="640080" cy="320040"/>
          </a:xfrm>
          <a:prstGeom prst="rightArrow">
            <a:avLst/>
          </a:prstGeom>
          <a:solidFill>
            <a:srgbClr val="555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749039" y="1325880"/>
            <a:ext cx="3291840" cy="822960"/>
          </a:xfrm>
          <a:prstGeom prst="roundRect">
            <a:avLst/>
          </a:prstGeom>
          <a:solidFill>
            <a:srgbClr val="2E9D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MLP
dropout · AdamW · early stopping</a:t>
            </a:r>
          </a:p>
        </p:txBody>
      </p:sp>
      <p:sp>
        <p:nvSpPr>
          <p:cNvPr id="10" name="Right Arrow 9"/>
          <p:cNvSpPr/>
          <p:nvPr/>
        </p:nvSpPr>
        <p:spPr>
          <a:xfrm>
            <a:off x="7132320" y="1581912"/>
            <a:ext cx="640080" cy="320040"/>
          </a:xfrm>
          <a:prstGeom prst="rightArrow">
            <a:avLst/>
          </a:prstGeom>
          <a:solidFill>
            <a:srgbClr val="555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863840" y="1325880"/>
            <a:ext cx="3291840" cy="822960"/>
          </a:xfrm>
          <a:prstGeom prst="roundRect">
            <a:avLst/>
          </a:prstGeom>
          <a:solidFill>
            <a:srgbClr val="F1F3F8"/>
          </a:solidFill>
          <a:ln w="19050">
            <a:solidFill>
              <a:srgbClr val="2E9D6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2A44"/>
                </a:solidFill>
                <a:latin typeface="Calibri"/>
              </a:rPr>
              <a:t>P(sobrevive) · tarea (a)</a:t>
            </a:r>
          </a:p>
        </p:txBody>
      </p:sp>
      <p:sp>
        <p:nvSpPr>
          <p:cNvPr id="12" name="Rounded Rectangle 11"/>
          <p:cNvSpPr/>
          <p:nvPr/>
        </p:nvSpPr>
        <p:spPr>
          <a:xfrm>
            <a:off x="548640" y="2514600"/>
            <a:ext cx="3108960" cy="822960"/>
          </a:xfrm>
          <a:prstGeom prst="roundRect">
            <a:avLst/>
          </a:prstGeom>
          <a:solidFill>
            <a:srgbClr val="F1F3F8"/>
          </a:solidFill>
          <a:ln w="19050">
            <a:solidFill>
              <a:srgbClr val="2E9D6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F2A44"/>
                </a:solidFill>
                <a:latin typeface="Calibri"/>
              </a:rPr>
              <a:t>Primeros k % de la trayectoria
+ 11 factores</a:t>
            </a:r>
          </a:p>
        </p:txBody>
      </p:sp>
      <p:sp>
        <p:nvSpPr>
          <p:cNvPr id="13" name="Right Arrow 12"/>
          <p:cNvSpPr/>
          <p:nvPr/>
        </p:nvSpPr>
        <p:spPr>
          <a:xfrm>
            <a:off x="3749039" y="2770632"/>
            <a:ext cx="457200" cy="320040"/>
          </a:xfrm>
          <a:prstGeom prst="rightArrow">
            <a:avLst/>
          </a:prstGeom>
          <a:solidFill>
            <a:srgbClr val="555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297680" y="2514600"/>
            <a:ext cx="2743200" cy="822960"/>
          </a:xfrm>
          <a:prstGeom prst="roundRect">
            <a:avLst/>
          </a:prstGeom>
          <a:solidFill>
            <a:srgbClr val="2E9D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LSTM
truncamiento aleatorio de k</a:t>
            </a:r>
          </a:p>
        </p:txBody>
      </p:sp>
      <p:sp>
        <p:nvSpPr>
          <p:cNvPr id="15" name="Right Arrow 14"/>
          <p:cNvSpPr/>
          <p:nvPr/>
        </p:nvSpPr>
        <p:spPr>
          <a:xfrm>
            <a:off x="7132320" y="2770632"/>
            <a:ext cx="640080" cy="320040"/>
          </a:xfrm>
          <a:prstGeom prst="rightArrow">
            <a:avLst/>
          </a:prstGeom>
          <a:solidFill>
            <a:srgbClr val="555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863840" y="2514600"/>
            <a:ext cx="3291840" cy="822960"/>
          </a:xfrm>
          <a:prstGeom prst="roundRect">
            <a:avLst/>
          </a:prstGeom>
          <a:solidFill>
            <a:srgbClr val="F1F3F8"/>
          </a:solidFill>
          <a:ln w="19050">
            <a:solidFill>
              <a:srgbClr val="2E9D6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2A44"/>
                </a:solidFill>
                <a:latin typeface="Calibri"/>
              </a:rPr>
              <a:t>P(sobrevive) · tarea (b)</a:t>
            </a:r>
          </a:p>
        </p:txBody>
      </p:sp>
      <p:sp>
        <p:nvSpPr>
          <p:cNvPr id="17" name="TextBox 16"/>
          <p:cNvSpPr txBox="1"/>
          <p:nvPr/>
        </p:nvSpPr>
        <p:spPr>
          <a:xfrm>
            <a:off x="502920" y="3703320"/>
            <a:ext cx="11155680" cy="2651760"/>
          </a:xfrm>
          <a:prstGeom prst="rect">
            <a:avLst/>
          </a:prstGeom>
          <a:noFill/>
        </p:spPr>
        <p:txBody>
          <a:bodyPr wrap="square">
            <a:spAutoFit/>
          </a:bodyPr>
          <a:lstStyle/>
          <a:p>
            <a:pPr>
              <a:spcAft>
                <a:spcPts val="600"/>
              </a:spcAft>
            </a:pPr>
            <a:r>
              <a:rPr sz="1800">
                <a:solidFill>
                  <a:srgbClr val="1F2A44"/>
                </a:solidFill>
                <a:latin typeface="Calibri"/>
              </a:rPr>
              <a:t>•  Baselines obligatorios: regresión logística, LightGBM, MLP sobre la ventana, MLP solo con parámetros.</a:t>
            </a:r>
          </a:p>
          <a:p>
            <a:pPr>
              <a:spcAft>
                <a:spcPts val="600"/>
              </a:spcAft>
            </a:pPr>
            <a:r>
              <a:rPr sz="1800">
                <a:solidFill>
                  <a:srgbClr val="1F2A44"/>
                </a:solidFill>
                <a:latin typeface="Calibri"/>
              </a:rPr>
              <a:t>•  Búsqueda de hiperparámetros (MLP: 12 configuraciones; LSTM: 8), 5 semillas, IC 95 % por bootstrap pareado.</a:t>
            </a:r>
          </a:p>
          <a:p>
            <a:pPr>
              <a:spcAft>
                <a:spcPts val="600"/>
              </a:spcAft>
            </a:pPr>
            <a:r>
              <a:rPr sz="1800">
                <a:solidFill>
                  <a:srgbClr val="1F2A44"/>
                </a:solidFill>
                <a:latin typeface="Calibri"/>
              </a:rPr>
              <a:t>•  Sin fuga: solo se evalúan planetas aún vivos al final de la ventana; se reporta cuántos quedan fuera.</a:t>
            </a:r>
          </a:p>
          <a:p>
            <a:pPr>
              <a:spcAft>
                <a:spcPts val="600"/>
              </a:spcAft>
            </a:pPr>
            <a:r>
              <a:rPr sz="1800">
                <a:solidFill>
                  <a:srgbClr val="1F2A44"/>
                </a:solidFill>
                <a:latin typeface="Calibri"/>
              </a:rPr>
              <a:t>•  Ablación: LSTM con y sin parámetros estáticos.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9D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326880" cy="822960"/>
          </a:xfrm>
          <a:prstGeom prst="rect">
            <a:avLst/>
          </a:prstGeom>
          <a:noFill/>
        </p:spPr>
        <p:txBody>
          <a:bodyPr wrap="square" anchor="t">
            <a:spAutoFit/>
          </a:bodyPr>
          <a:lstStyle/>
          <a:p>
            <a:pPr algn="l"/>
            <a:r>
              <a:rPr sz="2800" b="1">
                <a:solidFill>
                  <a:srgbClr val="1F2A44"/>
                </a:solidFill>
                <a:latin typeface="Calibri"/>
              </a:rPr>
              <a:t>Resultados de los modelos</a:t>
            </a:r>
          </a:p>
        </p:txBody>
      </p:sp>
      <p:sp>
        <p:nvSpPr>
          <p:cNvPr id="4" name="Rounded Rectangle 3"/>
          <p:cNvSpPr/>
          <p:nvPr/>
        </p:nvSpPr>
        <p:spPr>
          <a:xfrm>
            <a:off x="9966960" y="347472"/>
            <a:ext cx="1828800" cy="411480"/>
          </a:xfrm>
          <a:prstGeom prst="roundRect">
            <a:avLst/>
          </a:prstGeom>
          <a:solidFill>
            <a:srgbClr val="2E9D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Habla: Jonathan</a:t>
            </a:r>
          </a:p>
        </p:txBody>
      </p:sp>
      <p:sp>
        <p:nvSpPr>
          <p:cNvPr id="5" name="TextBox 4"/>
          <p:cNvSpPr txBox="1"/>
          <p:nvPr/>
        </p:nvSpPr>
        <p:spPr>
          <a:xfrm>
            <a:off x="502920" y="6446520"/>
            <a:ext cx="5486400" cy="274320"/>
          </a:xfrm>
          <a:prstGeom prst="rect">
            <a:avLst/>
          </a:prstGeom>
          <a:noFill/>
        </p:spPr>
        <p:txBody>
          <a:bodyPr wrap="square" anchor="t">
            <a:spAutoFit/>
          </a:bodyPr>
          <a:lstStyle/>
          <a:p>
            <a:pPr algn="l"/>
            <a:r>
              <a:rPr sz="1000" b="0">
                <a:solidFill>
                  <a:srgbClr val="555B6B"/>
                </a:solidFill>
                <a:latin typeface="Calibri"/>
              </a:rPr>
              <a:t>Deep Learning · UVG · Proyecto final</a:t>
            </a:r>
          </a:p>
        </p:txBody>
      </p:sp>
      <p:sp>
        <p:nvSpPr>
          <p:cNvPr id="6" name="TextBox 5"/>
          <p:cNvSpPr txBox="1"/>
          <p:nvPr/>
        </p:nvSpPr>
        <p:spPr>
          <a:xfrm>
            <a:off x="10881360" y="6446520"/>
            <a:ext cx="914400" cy="274320"/>
          </a:xfrm>
          <a:prstGeom prst="rect">
            <a:avLst/>
          </a:prstGeom>
          <a:noFill/>
        </p:spPr>
        <p:txBody>
          <a:bodyPr wrap="square" anchor="t">
            <a:spAutoFit/>
          </a:bodyPr>
          <a:lstStyle/>
          <a:p>
            <a:pPr algn="r"/>
            <a:r>
              <a:rPr sz="1000" b="0">
                <a:solidFill>
                  <a:srgbClr val="555B6B"/>
                </a:solidFill>
                <a:latin typeface="Calibri"/>
              </a:rPr>
              <a:t>6 / 10</a:t>
            </a:r>
          </a:p>
        </p:txBody>
      </p:sp>
      <p:graphicFrame>
        <p:nvGraphicFramePr>
          <p:cNvPr id="7" name="Table 6"/>
          <p:cNvGraphicFramePr>
            <a:graphicFrameLocks noGrp="1"/>
          </p:cNvGraphicFramePr>
          <p:nvPr/>
        </p:nvGraphicFramePr>
        <p:xfrm>
          <a:off x="502920" y="1188720"/>
          <a:ext cx="6035040" cy="1554480"/>
        </p:xfrm>
        <a:graphic>
          <a:graphicData uri="http://schemas.openxmlformats.org/drawingml/2006/table">
            <a:tbl>
              <a:tblPr firstRow="1" bandRow="1">
                <a:tableStyleId>{5C22544A-7EE6-4342-B048-85BDC9FD1C3A}</a:tableStyleId>
              </a:tblPr>
              <a:tblGrid>
                <a:gridCol w="1508760"/>
                <a:gridCol w="1508760"/>
                <a:gridCol w="1508760"/>
                <a:gridCol w="1508760"/>
              </a:tblGrid>
              <a:tr h="388620">
                <a:tc>
                  <a:txBody>
                    <a:bodyPr/>
                    <a:lstStyle/>
                    <a:p>
                      <a:pPr algn="l"/>
                      <a:r>
                        <a:rPr sz="1300" b="1">
                          <a:latin typeface="Calibri"/>
                        </a:rPr>
                        <a:t>Tarea (a)</a:t>
                      </a:r>
                    </a:p>
                  </a:txBody>
                  <a:tcPr/>
                </a:tc>
                <a:tc>
                  <a:txBody>
                    <a:bodyPr/>
                    <a:lstStyle/>
                    <a:p>
                      <a:pPr algn="ctr"/>
                      <a:r>
                        <a:rPr sz="1300" b="1">
                          <a:latin typeface="Calibri"/>
                        </a:rPr>
                        <a:t>ROC-AUC</a:t>
                      </a:r>
                    </a:p>
                  </a:txBody>
                  <a:tcPr/>
                </a:tc>
                <a:tc>
                  <a:txBody>
                    <a:bodyPr/>
                    <a:lstStyle/>
                    <a:p>
                      <a:pPr algn="ctr"/>
                      <a:r>
                        <a:rPr sz="1300" b="1">
                          <a:latin typeface="Calibri"/>
                        </a:rPr>
                        <a:t>Brier</a:t>
                      </a:r>
                    </a:p>
                  </a:txBody>
                  <a:tcPr/>
                </a:tc>
                <a:tc>
                  <a:txBody>
                    <a:bodyPr/>
                    <a:lstStyle/>
                    <a:p>
                      <a:pPr algn="ctr"/>
                      <a:r>
                        <a:rPr sz="1300" b="1">
                          <a:latin typeface="Calibri"/>
                        </a:rPr>
                        <a:t>MAE vs P verdadera</a:t>
                      </a:r>
                    </a:p>
                  </a:txBody>
                  <a:tcPr/>
                </a:tc>
              </a:tr>
              <a:tr h="388620">
                <a:tc>
                  <a:txBody>
                    <a:bodyPr/>
                    <a:lstStyle/>
                    <a:p>
                      <a:pPr algn="l"/>
                      <a:r>
                        <a:rPr sz="1300" b="0">
                          <a:latin typeface="Calibri"/>
                        </a:rPr>
                        <a:t>Regresión logística</a:t>
                      </a:r>
                    </a:p>
                  </a:txBody>
                  <a:tcPr/>
                </a:tc>
                <a:tc>
                  <a:txBody>
                    <a:bodyPr/>
                    <a:lstStyle/>
                    <a:p>
                      <a:pPr algn="ctr"/>
                      <a:r>
                        <a:rPr sz="1300" b="0">
                          <a:latin typeface="Calibri"/>
                        </a:rPr>
                        <a:t>0.732 ± 0.000</a:t>
                      </a:r>
                    </a:p>
                  </a:txBody>
                  <a:tcPr/>
                </a:tc>
                <a:tc>
                  <a:txBody>
                    <a:bodyPr/>
                    <a:lstStyle/>
                    <a:p>
                      <a:pPr algn="ctr"/>
                      <a:r>
                        <a:rPr sz="1300" b="0">
                          <a:latin typeface="Calibri"/>
                        </a:rPr>
                        <a:t>0.209 ± 0.000</a:t>
                      </a:r>
                    </a:p>
                  </a:txBody>
                  <a:tcPr/>
                </a:tc>
                <a:tc>
                  <a:txBody>
                    <a:bodyPr/>
                    <a:lstStyle/>
                    <a:p>
                      <a:pPr algn="ctr"/>
                      <a:r>
                        <a:rPr sz="1300" b="0">
                          <a:latin typeface="Calibri"/>
                        </a:rPr>
                        <a:t>0.342 ± 0.000</a:t>
                      </a:r>
                    </a:p>
                  </a:txBody>
                  <a:tcPr/>
                </a:tc>
              </a:tr>
              <a:tr h="388620">
                <a:tc>
                  <a:txBody>
                    <a:bodyPr/>
                    <a:lstStyle/>
                    <a:p>
                      <a:pPr algn="l"/>
                      <a:r>
                        <a:rPr sz="1300" b="0">
                          <a:latin typeface="Calibri"/>
                        </a:rPr>
                        <a:t>LightGBM</a:t>
                      </a:r>
                    </a:p>
                  </a:txBody>
                  <a:tcPr/>
                </a:tc>
                <a:tc>
                  <a:txBody>
                    <a:bodyPr/>
                    <a:lstStyle/>
                    <a:p>
                      <a:pPr algn="ctr"/>
                      <a:r>
                        <a:rPr sz="1300" b="0">
                          <a:latin typeface="Calibri"/>
                        </a:rPr>
                        <a:t>0.966 ± 0.000</a:t>
                      </a:r>
                    </a:p>
                  </a:txBody>
                  <a:tcPr/>
                </a:tc>
                <a:tc>
                  <a:txBody>
                    <a:bodyPr/>
                    <a:lstStyle/>
                    <a:p>
                      <a:pPr algn="ctr"/>
                      <a:r>
                        <a:rPr sz="1300" b="0">
                          <a:latin typeface="Calibri"/>
                        </a:rPr>
                        <a:t>0.074 ± 0.001</a:t>
                      </a:r>
                    </a:p>
                  </a:txBody>
                  <a:tcPr/>
                </a:tc>
                <a:tc>
                  <a:txBody>
                    <a:bodyPr/>
                    <a:lstStyle/>
                    <a:p>
                      <a:pPr algn="ctr"/>
                      <a:r>
                        <a:rPr sz="1300" b="0">
                          <a:latin typeface="Calibri"/>
                        </a:rPr>
                        <a:t>0.077 ± 0.001</a:t>
                      </a:r>
                    </a:p>
                  </a:txBody>
                  <a:tcPr/>
                </a:tc>
              </a:tr>
              <a:tr h="388620">
                <a:tc>
                  <a:txBody>
                    <a:bodyPr/>
                    <a:lstStyle/>
                    <a:p>
                      <a:pPr algn="l"/>
                      <a:r>
                        <a:rPr sz="1300" b="0">
                          <a:latin typeface="Calibri"/>
                        </a:rPr>
                        <a:t>MLP</a:t>
                      </a:r>
                    </a:p>
                  </a:txBody>
                  <a:tcPr/>
                </a:tc>
                <a:tc>
                  <a:txBody>
                    <a:bodyPr/>
                    <a:lstStyle/>
                    <a:p>
                      <a:pPr algn="ctr"/>
                      <a:r>
                        <a:rPr sz="1300" b="0">
                          <a:latin typeface="Calibri"/>
                        </a:rPr>
                        <a:t>0.973 ± 0.001</a:t>
                      </a:r>
                    </a:p>
                  </a:txBody>
                  <a:tcPr/>
                </a:tc>
                <a:tc>
                  <a:txBody>
                    <a:bodyPr/>
                    <a:lstStyle/>
                    <a:p>
                      <a:pPr algn="ctr"/>
                      <a:r>
                        <a:rPr sz="1300" b="0">
                          <a:latin typeface="Calibri"/>
                        </a:rPr>
                        <a:t>0.066 ± 0.001</a:t>
                      </a:r>
                    </a:p>
                  </a:txBody>
                  <a:tcPr/>
                </a:tc>
                <a:tc>
                  <a:txBody>
                    <a:bodyPr/>
                    <a:lstStyle/>
                    <a:p>
                      <a:pPr algn="ctr"/>
                      <a:r>
                        <a:rPr sz="1300" b="0">
                          <a:latin typeface="Calibri"/>
                        </a:rPr>
                        <a:t>0.054 ± 0.001</a:t>
                      </a:r>
                    </a:p>
                  </a:txBody>
                  <a:tcPr/>
                </a:tc>
              </a:tr>
            </a:tbl>
          </a:graphicData>
        </a:graphic>
      </p:graphicFrame>
      <p:sp>
        <p:nvSpPr>
          <p:cNvPr id="8" name="TextBox 7"/>
          <p:cNvSpPr txBox="1"/>
          <p:nvPr/>
        </p:nvSpPr>
        <p:spPr>
          <a:xfrm>
            <a:off x="6766560" y="1143000"/>
            <a:ext cx="5029200" cy="1828800"/>
          </a:xfrm>
          <a:prstGeom prst="rect">
            <a:avLst/>
          </a:prstGeom>
          <a:noFill/>
        </p:spPr>
        <p:txBody>
          <a:bodyPr wrap="square">
            <a:spAutoFit/>
          </a:bodyPr>
          <a:lstStyle/>
          <a:p>
            <a:pPr>
              <a:spcAft>
                <a:spcPts val="600"/>
              </a:spcAft>
            </a:pPr>
            <a:r>
              <a:rPr sz="1400">
                <a:solidFill>
                  <a:srgbClr val="1F2A44"/>
                </a:solidFill>
                <a:latin typeface="Calibri"/>
              </a:rPr>
              <a:t>•  MLP − LightGBM: ΔAUC +0.0062 [+0.0044, +0.0080] (IC 95 %).</a:t>
            </a:r>
          </a:p>
          <a:p>
            <a:pPr>
              <a:spcAft>
                <a:spcPts val="600"/>
              </a:spcAft>
            </a:pPr>
            <a:r>
              <a:rPr sz="1400">
                <a:solidFill>
                  <a:srgbClr val="1F2A44"/>
                </a:solidFill>
                <a:latin typeface="Calibri"/>
              </a:rPr>
              <a:t>•  k = 60 %: LSTM 0.987 vs. LightGBM 0.987 → empatan.</a:t>
            </a:r>
          </a:p>
          <a:p>
            <a:pPr>
              <a:spcAft>
                <a:spcPts val="600"/>
              </a:spcAft>
            </a:pPr>
            <a:r>
              <a:rPr sz="1400">
                <a:solidFill>
                  <a:srgbClr val="1F2A44"/>
                </a:solidFill>
                <a:latin typeface="Calibri"/>
              </a:rPr>
              <a:t>•  Sin parámetros estáticos, la LSTM parte casi del azar (k = 0).</a:t>
            </a:r>
          </a:p>
        </p:txBody>
      </p:sp>
      <p:pic>
        <p:nvPicPr>
          <p:cNvPr id="9" name="Picture 8" descr="fig_tarea_b_curva_k.png"/>
          <p:cNvPicPr>
            <a:picLocks noChangeAspect="1"/>
          </p:cNvPicPr>
          <p:nvPr/>
        </p:nvPicPr>
        <p:blipFill>
          <a:blip r:embed="rId3"/>
          <a:stretch>
            <a:fillRect/>
          </a:stretch>
        </p:blipFill>
        <p:spPr>
          <a:xfrm>
            <a:off x="1168518" y="2880360"/>
            <a:ext cx="9824483" cy="35204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E88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326880" cy="822960"/>
          </a:xfrm>
          <a:prstGeom prst="rect">
            <a:avLst/>
          </a:prstGeom>
          <a:noFill/>
        </p:spPr>
        <p:txBody>
          <a:bodyPr wrap="square" anchor="t">
            <a:spAutoFit/>
          </a:bodyPr>
          <a:lstStyle/>
          <a:p>
            <a:pPr algn="l"/>
            <a:r>
              <a:rPr sz="2800" b="1">
                <a:solidFill>
                  <a:srgbClr val="1F2A44"/>
                </a:solidFill>
                <a:latin typeface="Calibri"/>
              </a:rPr>
              <a:t>Explicaciones y cómo las verificamos</a:t>
            </a:r>
          </a:p>
        </p:txBody>
      </p:sp>
      <p:sp>
        <p:nvSpPr>
          <p:cNvPr id="4" name="Rounded Rectangle 3"/>
          <p:cNvSpPr/>
          <p:nvPr/>
        </p:nvSpPr>
        <p:spPr>
          <a:xfrm>
            <a:off x="9966960" y="347472"/>
            <a:ext cx="1828800" cy="411480"/>
          </a:xfrm>
          <a:prstGeom prst="roundRect">
            <a:avLst/>
          </a:prstGeom>
          <a:solidFill>
            <a:srgbClr val="E883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Habla: Gabriel</a:t>
            </a:r>
          </a:p>
        </p:txBody>
      </p:sp>
      <p:sp>
        <p:nvSpPr>
          <p:cNvPr id="5" name="TextBox 4"/>
          <p:cNvSpPr txBox="1"/>
          <p:nvPr/>
        </p:nvSpPr>
        <p:spPr>
          <a:xfrm>
            <a:off x="502920" y="6446520"/>
            <a:ext cx="5486400" cy="274320"/>
          </a:xfrm>
          <a:prstGeom prst="rect">
            <a:avLst/>
          </a:prstGeom>
          <a:noFill/>
        </p:spPr>
        <p:txBody>
          <a:bodyPr wrap="square" anchor="t">
            <a:spAutoFit/>
          </a:bodyPr>
          <a:lstStyle/>
          <a:p>
            <a:pPr algn="l"/>
            <a:r>
              <a:rPr sz="1000" b="0">
                <a:solidFill>
                  <a:srgbClr val="555B6B"/>
                </a:solidFill>
                <a:latin typeface="Calibri"/>
              </a:rPr>
              <a:t>Deep Learning · UVG · Proyecto final</a:t>
            </a:r>
          </a:p>
        </p:txBody>
      </p:sp>
      <p:sp>
        <p:nvSpPr>
          <p:cNvPr id="6" name="TextBox 5"/>
          <p:cNvSpPr txBox="1"/>
          <p:nvPr/>
        </p:nvSpPr>
        <p:spPr>
          <a:xfrm>
            <a:off x="10881360" y="6446520"/>
            <a:ext cx="914400" cy="274320"/>
          </a:xfrm>
          <a:prstGeom prst="rect">
            <a:avLst/>
          </a:prstGeom>
          <a:noFill/>
        </p:spPr>
        <p:txBody>
          <a:bodyPr wrap="square" anchor="t">
            <a:spAutoFit/>
          </a:bodyPr>
          <a:lstStyle/>
          <a:p>
            <a:pPr algn="r"/>
            <a:r>
              <a:rPr sz="1000" b="0">
                <a:solidFill>
                  <a:srgbClr val="555B6B"/>
                </a:solidFill>
                <a:latin typeface="Calibri"/>
              </a:rPr>
              <a:t>7 / 10</a:t>
            </a:r>
          </a:p>
        </p:txBody>
      </p:sp>
      <p:sp>
        <p:nvSpPr>
          <p:cNvPr id="7" name="Rounded Rectangle 6"/>
          <p:cNvSpPr/>
          <p:nvPr/>
        </p:nvSpPr>
        <p:spPr>
          <a:xfrm>
            <a:off x="502920" y="1188720"/>
            <a:ext cx="6583680" cy="868680"/>
          </a:xfrm>
          <a:prstGeom prst="round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Calibri"/>
              </a:rPr>
              <a:t>Mismo baseline (planeta medio de entrenamiento)
Misma salida (logit de supervivencia)</a:t>
            </a:r>
          </a:p>
        </p:txBody>
      </p:sp>
      <p:sp>
        <p:nvSpPr>
          <p:cNvPr id="8" name="Rounded Rectangle 7"/>
          <p:cNvSpPr/>
          <p:nvPr/>
        </p:nvSpPr>
        <p:spPr>
          <a:xfrm>
            <a:off x="502920" y="2240280"/>
            <a:ext cx="2103120" cy="914400"/>
          </a:xfrm>
          <a:prstGeom prst="roundRect">
            <a:avLst/>
          </a:prstGeom>
          <a:solidFill>
            <a:srgbClr val="F1F3F8"/>
          </a:solidFill>
          <a:ln w="19050">
            <a:solidFill>
              <a:srgbClr val="E883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F2A44"/>
                </a:solidFill>
                <a:latin typeface="Calibri"/>
              </a:rPr>
              <a:t>SHAP exacto
MLP · 2¹¹ coaliciones</a:t>
            </a:r>
          </a:p>
        </p:txBody>
      </p:sp>
      <p:sp>
        <p:nvSpPr>
          <p:cNvPr id="9" name="Rounded Rectangle 8"/>
          <p:cNvSpPr/>
          <p:nvPr/>
        </p:nvSpPr>
        <p:spPr>
          <a:xfrm>
            <a:off x="2743200" y="2240280"/>
            <a:ext cx="2103120" cy="914400"/>
          </a:xfrm>
          <a:prstGeom prst="roundRect">
            <a:avLst/>
          </a:prstGeom>
          <a:solidFill>
            <a:srgbClr val="F1F3F8"/>
          </a:solidFill>
          <a:ln w="19050">
            <a:solidFill>
              <a:srgbClr val="E883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F2A44"/>
                </a:solidFill>
                <a:latin typeface="Calibri"/>
              </a:rPr>
              <a:t>Integrated Gradients
MLP · Captum</a:t>
            </a:r>
          </a:p>
        </p:txBody>
      </p:sp>
      <p:sp>
        <p:nvSpPr>
          <p:cNvPr id="10" name="Rounded Rectangle 9"/>
          <p:cNvSpPr/>
          <p:nvPr/>
        </p:nvSpPr>
        <p:spPr>
          <a:xfrm>
            <a:off x="4983480" y="2240280"/>
            <a:ext cx="2103120" cy="914400"/>
          </a:xfrm>
          <a:prstGeom prst="roundRect">
            <a:avLst/>
          </a:prstGeom>
          <a:solidFill>
            <a:srgbClr val="F1F3F8"/>
          </a:solidFill>
          <a:ln w="19050">
            <a:solidFill>
              <a:srgbClr val="E883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F2A44"/>
                </a:solidFill>
                <a:latin typeface="Calibri"/>
              </a:rPr>
              <a:t>TreeSHAP
LightGBM</a:t>
            </a:r>
          </a:p>
        </p:txBody>
      </p:sp>
      <p:sp>
        <p:nvSpPr>
          <p:cNvPr id="11" name="TextBox 10"/>
          <p:cNvSpPr txBox="1"/>
          <p:nvPr/>
        </p:nvSpPr>
        <p:spPr>
          <a:xfrm>
            <a:off x="502920" y="3429000"/>
            <a:ext cx="6583680" cy="2926080"/>
          </a:xfrm>
          <a:prstGeom prst="rect">
            <a:avLst/>
          </a:prstGeom>
          <a:noFill/>
        </p:spPr>
        <p:txBody>
          <a:bodyPr wrap="square">
            <a:spAutoFit/>
          </a:bodyPr>
          <a:lstStyle/>
          <a:p>
            <a:pPr>
              <a:spcAft>
                <a:spcPts val="600"/>
              </a:spcAft>
            </a:pPr>
            <a:r>
              <a:rPr sz="1700">
                <a:solidFill>
                  <a:srgbClr val="1F2A44"/>
                </a:solidFill>
                <a:latin typeface="Calibri"/>
              </a:rPr>
              <a:t>•  Intervención en el modelo: ¿cambia el logit como dice φ?</a:t>
            </a:r>
          </a:p>
          <a:p>
            <a:pPr>
              <a:spcAft>
                <a:spcPts val="600"/>
              </a:spcAft>
            </a:pPr>
            <a:r>
              <a:rPr sz="1700">
                <a:solidFill>
                  <a:srgbClr val="1F2A44"/>
                </a:solidFill>
                <a:latin typeface="Calibri"/>
              </a:rPr>
              <a:t>•  Intervención en el simulador (64 réplicas, números aleatorios comunes): la verdad.</a:t>
            </a:r>
          </a:p>
          <a:p>
            <a:pPr>
              <a:spcAft>
                <a:spcPts val="600"/>
              </a:spcAft>
            </a:pPr>
            <a:r>
              <a:rPr sz="1700">
                <a:solidFill>
                  <a:srgbClr val="1F2A44"/>
                </a:solidFill>
                <a:latin typeface="Calibri"/>
              </a:rPr>
              <a:t>•  Curvas de eliminación: orden por atribución vs. aleatorio.</a:t>
            </a:r>
          </a:p>
          <a:p>
            <a:pPr>
              <a:spcAft>
                <a:spcPts val="600"/>
              </a:spcAft>
            </a:pPr>
            <a:r>
              <a:rPr sz="1700">
                <a:solidFill>
                  <a:srgbClr val="1F2A44"/>
                </a:solidFill>
                <a:latin typeface="Calibri"/>
              </a:rPr>
              <a:t>•  Prueba de cordura: pesos aleatorizados (Adebayo et al., 2018).</a:t>
            </a:r>
          </a:p>
        </p:txBody>
      </p:sp>
      <p:pic>
        <p:nvPicPr>
          <p:cNvPr id="12" name="Picture 11" descr="fig_xai_beeswarm.png"/>
          <p:cNvPicPr>
            <a:picLocks noChangeAspect="1"/>
          </p:cNvPicPr>
          <p:nvPr/>
        </p:nvPicPr>
        <p:blipFill>
          <a:blip r:embed="rId3"/>
          <a:stretch>
            <a:fillRect/>
          </a:stretch>
        </p:blipFill>
        <p:spPr>
          <a:xfrm>
            <a:off x="7315200" y="2096833"/>
            <a:ext cx="4480560" cy="3304413"/>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E88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326880" cy="822960"/>
          </a:xfrm>
          <a:prstGeom prst="rect">
            <a:avLst/>
          </a:prstGeom>
          <a:noFill/>
        </p:spPr>
        <p:txBody>
          <a:bodyPr wrap="square" anchor="t">
            <a:spAutoFit/>
          </a:bodyPr>
          <a:lstStyle/>
          <a:p>
            <a:pPr algn="l"/>
            <a:r>
              <a:rPr sz="2800" b="1">
                <a:solidFill>
                  <a:srgbClr val="1F2A44"/>
                </a:solidFill>
                <a:latin typeface="Calibri"/>
              </a:rPr>
              <a:t>¿Son fieles las explicaciones? Resultados</a:t>
            </a:r>
          </a:p>
        </p:txBody>
      </p:sp>
      <p:sp>
        <p:nvSpPr>
          <p:cNvPr id="4" name="Rounded Rectangle 3"/>
          <p:cNvSpPr/>
          <p:nvPr/>
        </p:nvSpPr>
        <p:spPr>
          <a:xfrm>
            <a:off x="9966960" y="347472"/>
            <a:ext cx="1828800" cy="411480"/>
          </a:xfrm>
          <a:prstGeom prst="roundRect">
            <a:avLst/>
          </a:prstGeom>
          <a:solidFill>
            <a:srgbClr val="E883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Habla: Gabriel</a:t>
            </a:r>
          </a:p>
        </p:txBody>
      </p:sp>
      <p:sp>
        <p:nvSpPr>
          <p:cNvPr id="5" name="TextBox 4"/>
          <p:cNvSpPr txBox="1"/>
          <p:nvPr/>
        </p:nvSpPr>
        <p:spPr>
          <a:xfrm>
            <a:off x="502920" y="6446520"/>
            <a:ext cx="5486400" cy="274320"/>
          </a:xfrm>
          <a:prstGeom prst="rect">
            <a:avLst/>
          </a:prstGeom>
          <a:noFill/>
        </p:spPr>
        <p:txBody>
          <a:bodyPr wrap="square" anchor="t">
            <a:spAutoFit/>
          </a:bodyPr>
          <a:lstStyle/>
          <a:p>
            <a:pPr algn="l"/>
            <a:r>
              <a:rPr sz="1000" b="0">
                <a:solidFill>
                  <a:srgbClr val="555B6B"/>
                </a:solidFill>
                <a:latin typeface="Calibri"/>
              </a:rPr>
              <a:t>Deep Learning · UVG · Proyecto final</a:t>
            </a:r>
          </a:p>
        </p:txBody>
      </p:sp>
      <p:sp>
        <p:nvSpPr>
          <p:cNvPr id="6" name="TextBox 5"/>
          <p:cNvSpPr txBox="1"/>
          <p:nvPr/>
        </p:nvSpPr>
        <p:spPr>
          <a:xfrm>
            <a:off x="10881360" y="6446520"/>
            <a:ext cx="914400" cy="274320"/>
          </a:xfrm>
          <a:prstGeom prst="rect">
            <a:avLst/>
          </a:prstGeom>
          <a:noFill/>
        </p:spPr>
        <p:txBody>
          <a:bodyPr wrap="square" anchor="t">
            <a:spAutoFit/>
          </a:bodyPr>
          <a:lstStyle/>
          <a:p>
            <a:pPr algn="r"/>
            <a:r>
              <a:rPr sz="1000" b="0">
                <a:solidFill>
                  <a:srgbClr val="555B6B"/>
                </a:solidFill>
                <a:latin typeface="Calibri"/>
              </a:rPr>
              <a:t>8 / 10</a:t>
            </a:r>
          </a:p>
        </p:txBody>
      </p:sp>
      <p:pic>
        <p:nvPicPr>
          <p:cNvPr id="7" name="Picture 6" descr="fig_fidelidad_spearman.png"/>
          <p:cNvPicPr>
            <a:picLocks noChangeAspect="1"/>
          </p:cNvPicPr>
          <p:nvPr/>
        </p:nvPicPr>
        <p:blipFill>
          <a:blip r:embed="rId3"/>
          <a:stretch>
            <a:fillRect/>
          </a:stretch>
        </p:blipFill>
        <p:spPr>
          <a:xfrm>
            <a:off x="1142999" y="1097280"/>
            <a:ext cx="9875520" cy="3291840"/>
          </a:xfrm>
          <a:prstGeom prst="rect">
            <a:avLst/>
          </a:prstGeom>
        </p:spPr>
      </p:pic>
      <p:sp>
        <p:nvSpPr>
          <p:cNvPr id="8" name="TextBox 7"/>
          <p:cNvSpPr txBox="1"/>
          <p:nvPr/>
        </p:nvSpPr>
        <p:spPr>
          <a:xfrm>
            <a:off x="502920" y="4480560"/>
            <a:ext cx="11155680" cy="1920240"/>
          </a:xfrm>
          <a:prstGeom prst="rect">
            <a:avLst/>
          </a:prstGeom>
          <a:noFill/>
        </p:spPr>
        <p:txBody>
          <a:bodyPr wrap="square">
            <a:spAutoFit/>
          </a:bodyPr>
          <a:lstStyle/>
          <a:p>
            <a:pPr>
              <a:spcAft>
                <a:spcPts val="600"/>
              </a:spcAft>
            </a:pPr>
            <a:r>
              <a:rPr sz="1500">
                <a:solidFill>
                  <a:srgbClr val="1F2A44"/>
                </a:solidFill>
                <a:latin typeface="Calibri"/>
              </a:rPr>
              <a:t>•  Spearman vs. simulador: 0.67 (SHAP), 0.69 (IG), 0.63 (TreeSHAP) en planetas de frontera; signo correcto en ≈91%; factor n.º 1 acertado en ≈50%–61%.</a:t>
            </a:r>
          </a:p>
          <a:p>
            <a:pPr>
              <a:spcAft>
                <a:spcPts val="600"/>
              </a:spcAft>
            </a:pPr>
            <a:r>
              <a:rPr sz="1500">
                <a:solidFill>
                  <a:srgbClr val="1F2A44"/>
                </a:solidFill>
                <a:latin typeface="Calibri"/>
              </a:rPr>
              <a:t>•  Eliminación en el simulador: orden SHAP -0.27 vs. aleatorio +0.17 (cambio medio de P).</a:t>
            </a:r>
          </a:p>
          <a:p>
            <a:pPr>
              <a:spcAft>
                <a:spcPts val="600"/>
              </a:spcAft>
            </a:pPr>
            <a:r>
              <a:rPr sz="1500">
                <a:solidFill>
                  <a:srgbClr val="1F2A44"/>
                </a:solidFill>
                <a:latin typeface="Calibri"/>
              </a:rPr>
              <a:t>•  Prueba de cordura: Spearman vs. simulador 0.65 (modelo entrenado) → -0.13 (pesos aleatorios).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E88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326880" cy="822960"/>
          </a:xfrm>
          <a:prstGeom prst="rect">
            <a:avLst/>
          </a:prstGeom>
          <a:noFill/>
        </p:spPr>
        <p:txBody>
          <a:bodyPr wrap="square" anchor="t">
            <a:spAutoFit/>
          </a:bodyPr>
          <a:lstStyle/>
          <a:p>
            <a:pPr algn="l"/>
            <a:r>
              <a:rPr sz="2800" b="1">
                <a:solidFill>
                  <a:srgbClr val="1F2A44"/>
                </a:solidFill>
                <a:latin typeface="Calibri"/>
              </a:rPr>
              <a:t>Contrafactuales verificados y demo</a:t>
            </a:r>
          </a:p>
        </p:txBody>
      </p:sp>
      <p:sp>
        <p:nvSpPr>
          <p:cNvPr id="4" name="Rounded Rectangle 3"/>
          <p:cNvSpPr/>
          <p:nvPr/>
        </p:nvSpPr>
        <p:spPr>
          <a:xfrm>
            <a:off x="9966960" y="347472"/>
            <a:ext cx="1828800" cy="411480"/>
          </a:xfrm>
          <a:prstGeom prst="roundRect">
            <a:avLst/>
          </a:prstGeom>
          <a:solidFill>
            <a:srgbClr val="E883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Habla: Gabriel</a:t>
            </a:r>
          </a:p>
        </p:txBody>
      </p:sp>
      <p:sp>
        <p:nvSpPr>
          <p:cNvPr id="5" name="TextBox 4"/>
          <p:cNvSpPr txBox="1"/>
          <p:nvPr/>
        </p:nvSpPr>
        <p:spPr>
          <a:xfrm>
            <a:off x="502920" y="6446520"/>
            <a:ext cx="5486400" cy="274320"/>
          </a:xfrm>
          <a:prstGeom prst="rect">
            <a:avLst/>
          </a:prstGeom>
          <a:noFill/>
        </p:spPr>
        <p:txBody>
          <a:bodyPr wrap="square" anchor="t">
            <a:spAutoFit/>
          </a:bodyPr>
          <a:lstStyle/>
          <a:p>
            <a:pPr algn="l"/>
            <a:r>
              <a:rPr sz="1000" b="0">
                <a:solidFill>
                  <a:srgbClr val="555B6B"/>
                </a:solidFill>
                <a:latin typeface="Calibri"/>
              </a:rPr>
              <a:t>Deep Learning · UVG · Proyecto final</a:t>
            </a:r>
          </a:p>
        </p:txBody>
      </p:sp>
      <p:sp>
        <p:nvSpPr>
          <p:cNvPr id="6" name="TextBox 5"/>
          <p:cNvSpPr txBox="1"/>
          <p:nvPr/>
        </p:nvSpPr>
        <p:spPr>
          <a:xfrm>
            <a:off x="10881360" y="6446520"/>
            <a:ext cx="914400" cy="274320"/>
          </a:xfrm>
          <a:prstGeom prst="rect">
            <a:avLst/>
          </a:prstGeom>
          <a:noFill/>
        </p:spPr>
        <p:txBody>
          <a:bodyPr wrap="square" anchor="t">
            <a:spAutoFit/>
          </a:bodyPr>
          <a:lstStyle/>
          <a:p>
            <a:pPr algn="r"/>
            <a:r>
              <a:rPr sz="1000" b="0">
                <a:solidFill>
                  <a:srgbClr val="555B6B"/>
                </a:solidFill>
                <a:latin typeface="Calibri"/>
              </a:rPr>
              <a:t>9 / 10</a:t>
            </a:r>
          </a:p>
        </p:txBody>
      </p:sp>
      <p:sp>
        <p:nvSpPr>
          <p:cNvPr id="7" name="TextBox 6"/>
          <p:cNvSpPr txBox="1"/>
          <p:nvPr/>
        </p:nvSpPr>
        <p:spPr>
          <a:xfrm>
            <a:off x="502920" y="1143000"/>
            <a:ext cx="6766560" cy="2286000"/>
          </a:xfrm>
          <a:prstGeom prst="rect">
            <a:avLst/>
          </a:prstGeom>
          <a:noFill/>
        </p:spPr>
        <p:txBody>
          <a:bodyPr wrap="square">
            <a:spAutoFit/>
          </a:bodyPr>
          <a:lstStyle/>
          <a:p>
            <a:pPr>
              <a:spcAft>
                <a:spcPts val="600"/>
              </a:spcAft>
            </a:pPr>
            <a:r>
              <a:rPr sz="1600">
                <a:solidFill>
                  <a:srgbClr val="1F2A44"/>
                </a:solidFill>
                <a:latin typeface="Calibri"/>
              </a:rPr>
              <a:t>•  Pregunta: ¿cuál es el cambio mínimo en las palancas accionables (δ, κ, s, eficiencia hídrica) que lleva el planeta a sobrevivir?</a:t>
            </a:r>
          </a:p>
          <a:p>
            <a:pPr>
              <a:spcAft>
                <a:spcPts val="600"/>
              </a:spcAft>
            </a:pPr>
            <a:r>
              <a:rPr sz="1600">
                <a:solidFill>
                  <a:srgbClr val="1F2A44"/>
                </a:solidFill>
                <a:latin typeface="Calibri"/>
              </a:rPr>
              <a:t>•  Gradiente: 100% resueltos; 90% válidos en el simulador; P real 0.07 → 0.83.</a:t>
            </a:r>
          </a:p>
          <a:p>
            <a:pPr>
              <a:spcAft>
                <a:spcPts val="600"/>
              </a:spcAft>
            </a:pPr>
            <a:r>
              <a:rPr sz="1600">
                <a:solidFill>
                  <a:srgbClr val="1F2A44"/>
                </a:solidFill>
                <a:latin typeface="Calibri"/>
              </a:rPr>
              <a:t>•  Una sola palanca: 87% resueltos; 89% válidos en el simulador.</a:t>
            </a:r>
          </a:p>
          <a:p>
            <a:pPr>
              <a:spcAft>
                <a:spcPts val="600"/>
              </a:spcAft>
            </a:pPr>
            <a:r>
              <a:rPr sz="1600">
                <a:solidFill>
                  <a:srgbClr val="1F2A44"/>
                </a:solidFill>
                <a:latin typeface="Calibri"/>
              </a:rPr>
              <a:t>•  Los factores no accionables (temperatura, agua, eventos) nunca se modifican.</a:t>
            </a:r>
          </a:p>
        </p:txBody>
      </p:sp>
      <p:sp>
        <p:nvSpPr>
          <p:cNvPr id="8" name="Rounded Rectangle 7"/>
          <p:cNvSpPr/>
          <p:nvPr/>
        </p:nvSpPr>
        <p:spPr>
          <a:xfrm>
            <a:off x="7589520" y="1280160"/>
            <a:ext cx="4114800" cy="1554480"/>
          </a:xfrm>
          <a:prstGeom prst="roundRect">
            <a:avLst/>
          </a:prstGeom>
          <a:solidFill>
            <a:srgbClr val="E883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Calibri"/>
              </a:rPr>
              <a:t>DEMO EN VIVO
streamlit run app/streamlit_app.py</a:t>
            </a:r>
          </a:p>
        </p:txBody>
      </p:sp>
      <p:pic>
        <p:nvPicPr>
          <p:cNvPr id="9" name="Picture 8" descr="fig_contrafactuales.png"/>
          <p:cNvPicPr>
            <a:picLocks noChangeAspect="1"/>
          </p:cNvPicPr>
          <p:nvPr/>
        </p:nvPicPr>
        <p:blipFill>
          <a:blip r:embed="rId3"/>
          <a:stretch>
            <a:fillRect/>
          </a:stretch>
        </p:blipFill>
        <p:spPr>
          <a:xfrm>
            <a:off x="1691639" y="3429000"/>
            <a:ext cx="8778240" cy="292608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6F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326880" cy="822960"/>
          </a:xfrm>
          <a:prstGeom prst="rect">
            <a:avLst/>
          </a:prstGeom>
          <a:noFill/>
        </p:spPr>
        <p:txBody>
          <a:bodyPr wrap="square" anchor="t">
            <a:spAutoFit/>
          </a:bodyPr>
          <a:lstStyle/>
          <a:p>
            <a:pPr algn="l"/>
            <a:r>
              <a:rPr sz="2800" b="1">
                <a:solidFill>
                  <a:srgbClr val="1F2A44"/>
                </a:solidFill>
                <a:latin typeface="Calibri"/>
              </a:rPr>
              <a:t>Conclusiones, límites y uso de la IA</a:t>
            </a:r>
          </a:p>
        </p:txBody>
      </p:sp>
      <p:sp>
        <p:nvSpPr>
          <p:cNvPr id="4" name="Rounded Rectangle 3"/>
          <p:cNvSpPr/>
          <p:nvPr/>
        </p:nvSpPr>
        <p:spPr>
          <a:xfrm>
            <a:off x="9966960" y="347472"/>
            <a:ext cx="1828800" cy="411480"/>
          </a:xfrm>
          <a:prstGeom prst="roundRect">
            <a:avLst/>
          </a:prstGeom>
          <a:solidFill>
            <a:srgbClr val="2F6FD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Habla: David</a:t>
            </a:r>
          </a:p>
        </p:txBody>
      </p:sp>
      <p:sp>
        <p:nvSpPr>
          <p:cNvPr id="5" name="TextBox 4"/>
          <p:cNvSpPr txBox="1"/>
          <p:nvPr/>
        </p:nvSpPr>
        <p:spPr>
          <a:xfrm>
            <a:off x="502920" y="6446520"/>
            <a:ext cx="5486400" cy="274320"/>
          </a:xfrm>
          <a:prstGeom prst="rect">
            <a:avLst/>
          </a:prstGeom>
          <a:noFill/>
        </p:spPr>
        <p:txBody>
          <a:bodyPr wrap="square" anchor="t">
            <a:spAutoFit/>
          </a:bodyPr>
          <a:lstStyle/>
          <a:p>
            <a:pPr algn="l"/>
            <a:r>
              <a:rPr sz="1000" b="0">
                <a:solidFill>
                  <a:srgbClr val="555B6B"/>
                </a:solidFill>
                <a:latin typeface="Calibri"/>
              </a:rPr>
              <a:t>Deep Learning · UVG · Proyecto final</a:t>
            </a:r>
          </a:p>
        </p:txBody>
      </p:sp>
      <p:sp>
        <p:nvSpPr>
          <p:cNvPr id="6" name="TextBox 5"/>
          <p:cNvSpPr txBox="1"/>
          <p:nvPr/>
        </p:nvSpPr>
        <p:spPr>
          <a:xfrm>
            <a:off x="10881360" y="6446520"/>
            <a:ext cx="914400" cy="274320"/>
          </a:xfrm>
          <a:prstGeom prst="rect">
            <a:avLst/>
          </a:prstGeom>
          <a:noFill/>
        </p:spPr>
        <p:txBody>
          <a:bodyPr wrap="square" anchor="t">
            <a:spAutoFit/>
          </a:bodyPr>
          <a:lstStyle/>
          <a:p>
            <a:pPr algn="r"/>
            <a:r>
              <a:rPr sz="1000" b="0">
                <a:solidFill>
                  <a:srgbClr val="555B6B"/>
                </a:solidFill>
                <a:latin typeface="Calibri"/>
              </a:rPr>
              <a:t>10 / 10</a:t>
            </a:r>
          </a:p>
        </p:txBody>
      </p:sp>
      <p:sp>
        <p:nvSpPr>
          <p:cNvPr id="7" name="Rounded Rectangle 6"/>
          <p:cNvSpPr/>
          <p:nvPr/>
        </p:nvSpPr>
        <p:spPr>
          <a:xfrm>
            <a:off x="502920" y="1188720"/>
            <a:ext cx="3611880" cy="548640"/>
          </a:xfrm>
          <a:prstGeom prst="roundRect">
            <a:avLst/>
          </a:prstGeom>
          <a:solidFill>
            <a:srgbClr val="2F6FD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rPr>
              <a:t>Lo que encontramos</a:t>
            </a:r>
          </a:p>
        </p:txBody>
      </p:sp>
      <p:sp>
        <p:nvSpPr>
          <p:cNvPr id="8" name="TextBox 7"/>
          <p:cNvSpPr txBox="1"/>
          <p:nvPr/>
        </p:nvSpPr>
        <p:spPr>
          <a:xfrm>
            <a:off x="502920" y="1874519"/>
            <a:ext cx="3611880" cy="4389120"/>
          </a:xfrm>
          <a:prstGeom prst="rect">
            <a:avLst/>
          </a:prstGeom>
          <a:noFill/>
        </p:spPr>
        <p:txBody>
          <a:bodyPr wrap="square">
            <a:spAutoFit/>
          </a:bodyPr>
          <a:lstStyle/>
          <a:p>
            <a:pPr>
              <a:spcAft>
                <a:spcPts val="600"/>
              </a:spcAft>
            </a:pPr>
            <a:r>
              <a:rPr sz="1700">
                <a:solidFill>
                  <a:srgbClr val="1F2A44"/>
                </a:solidFill>
                <a:latin typeface="Calibri"/>
              </a:rPr>
              <a:t>•  La red supera a la logística y, por poco pero con IC, a LightGBM.</a:t>
            </a:r>
          </a:p>
          <a:p>
            <a:pPr>
              <a:spcAft>
                <a:spcPts val="600"/>
              </a:spcAft>
            </a:pPr>
            <a:r>
              <a:rPr sz="1700">
                <a:solidFill>
                  <a:srgbClr val="1F2A44"/>
                </a:solidFill>
                <a:latin typeface="Calibri"/>
              </a:rPr>
              <a:t>•  La trayectoria ayuda sobre todo con ventanas largas.</a:t>
            </a:r>
          </a:p>
          <a:p>
            <a:pPr>
              <a:spcAft>
                <a:spcPts val="600"/>
              </a:spcAft>
            </a:pPr>
            <a:r>
              <a:rPr sz="1700">
                <a:solidFill>
                  <a:srgbClr val="1F2A44"/>
                </a:solidFill>
                <a:latin typeface="Calibri"/>
              </a:rPr>
              <a:t>•  Las explicaciones concuerdan con el simulador (ρ ≈ 0.6–0.7) y pasan la prueba de cordura.</a:t>
            </a:r>
          </a:p>
          <a:p>
            <a:pPr>
              <a:spcAft>
                <a:spcPts val="600"/>
              </a:spcAft>
            </a:pPr>
            <a:r>
              <a:rPr sz="1700">
                <a:solidFill>
                  <a:srgbClr val="1F2A44"/>
                </a:solidFill>
                <a:latin typeface="Calibri"/>
              </a:rPr>
              <a:t>•  90% de los contrafactuales funcionan en el simulador.</a:t>
            </a:r>
          </a:p>
        </p:txBody>
      </p:sp>
      <p:sp>
        <p:nvSpPr>
          <p:cNvPr id="9" name="Rounded Rectangle 8"/>
          <p:cNvSpPr/>
          <p:nvPr/>
        </p:nvSpPr>
        <p:spPr>
          <a:xfrm>
            <a:off x="4297680" y="1188720"/>
            <a:ext cx="3611880" cy="548640"/>
          </a:xfrm>
          <a:prstGeom prst="roundRect">
            <a:avLst/>
          </a:prstGeom>
          <a:solidFill>
            <a:srgbClr val="2F6FD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rPr>
              <a:t>Límites</a:t>
            </a:r>
          </a:p>
        </p:txBody>
      </p:sp>
      <p:sp>
        <p:nvSpPr>
          <p:cNvPr id="10" name="TextBox 9"/>
          <p:cNvSpPr txBox="1"/>
          <p:nvPr/>
        </p:nvSpPr>
        <p:spPr>
          <a:xfrm>
            <a:off x="4297680" y="1874519"/>
            <a:ext cx="3611880" cy="4389120"/>
          </a:xfrm>
          <a:prstGeom prst="rect">
            <a:avLst/>
          </a:prstGeom>
          <a:noFill/>
        </p:spPr>
        <p:txBody>
          <a:bodyPr wrap="square">
            <a:spAutoFit/>
          </a:bodyPr>
          <a:lstStyle/>
          <a:p>
            <a:pPr>
              <a:spcAft>
                <a:spcPts val="600"/>
              </a:spcAft>
            </a:pPr>
            <a:r>
              <a:rPr sz="1700">
                <a:solidFill>
                  <a:srgbClr val="1F2A44"/>
                </a:solidFill>
                <a:latin typeface="Calibri"/>
              </a:rPr>
              <a:t>•  Efecto de un factor a la vez: no captura interacciones.</a:t>
            </a:r>
          </a:p>
          <a:p>
            <a:pPr>
              <a:spcAft>
                <a:spcPts val="600"/>
              </a:spcAft>
            </a:pPr>
            <a:r>
              <a:rPr sz="1700">
                <a:solidFill>
                  <a:srgbClr val="1F2A44"/>
                </a:solidFill>
                <a:latin typeface="Calibri"/>
              </a:rPr>
              <a:t>•  Temperatura y agua: supuestos nuestros, sin calibración.</a:t>
            </a:r>
          </a:p>
          <a:p>
            <a:pPr>
              <a:spcAft>
                <a:spcPts val="600"/>
              </a:spcAft>
            </a:pPr>
            <a:r>
              <a:rPr sz="1700">
                <a:solidFill>
                  <a:srgbClr val="1F2A44"/>
                </a:solidFill>
                <a:latin typeface="Calibri"/>
              </a:rPr>
              <a:t>•  No igualamos el umbral del Tipo-N del paper.</a:t>
            </a:r>
          </a:p>
          <a:p>
            <a:pPr>
              <a:spcAft>
                <a:spcPts val="600"/>
              </a:spcAft>
            </a:pPr>
            <a:r>
              <a:rPr sz="1700">
                <a:solidFill>
                  <a:srgbClr val="1F2A44"/>
                </a:solidFill>
                <a:latin typeface="Calibri"/>
              </a:rPr>
              <a:t>•  Modelos con 5 semillas; un solo simulador.</a:t>
            </a:r>
          </a:p>
        </p:txBody>
      </p:sp>
      <p:sp>
        <p:nvSpPr>
          <p:cNvPr id="11" name="Rounded Rectangle 10"/>
          <p:cNvSpPr/>
          <p:nvPr/>
        </p:nvSpPr>
        <p:spPr>
          <a:xfrm>
            <a:off x="8092440" y="1188720"/>
            <a:ext cx="3611880" cy="548640"/>
          </a:xfrm>
          <a:prstGeom prst="roundRect">
            <a:avLst/>
          </a:prstGeom>
          <a:solidFill>
            <a:srgbClr val="2F6FD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rPr>
              <a:t>Uso de la IA</a:t>
            </a:r>
          </a:p>
        </p:txBody>
      </p:sp>
      <p:sp>
        <p:nvSpPr>
          <p:cNvPr id="12" name="TextBox 11"/>
          <p:cNvSpPr txBox="1"/>
          <p:nvPr/>
        </p:nvSpPr>
        <p:spPr>
          <a:xfrm>
            <a:off x="8092440" y="1874519"/>
            <a:ext cx="3611880" cy="4389120"/>
          </a:xfrm>
          <a:prstGeom prst="rect">
            <a:avLst/>
          </a:prstGeom>
          <a:noFill/>
        </p:spPr>
        <p:txBody>
          <a:bodyPr wrap="square">
            <a:spAutoFit/>
          </a:bodyPr>
          <a:lstStyle/>
          <a:p>
            <a:pPr>
              <a:spcAft>
                <a:spcPts val="600"/>
              </a:spcAft>
            </a:pPr>
            <a:r>
              <a:rPr sz="1700">
                <a:solidFill>
                  <a:srgbClr val="1F2A44"/>
                </a:solidFill>
                <a:latin typeface="Calibri"/>
              </a:rPr>
              <a:t>•  Código y borradores generados con IA; historial en docs/PROMPTS.md.</a:t>
            </a:r>
          </a:p>
          <a:p>
            <a:pPr>
              <a:spcAft>
                <a:spcPts val="600"/>
              </a:spcAft>
            </a:pPr>
            <a:r>
              <a:rPr sz="1700">
                <a:solidFill>
                  <a:srgbClr val="1F2A44"/>
                </a:solidFill>
                <a:latin typeface="Calibri"/>
              </a:rPr>
              <a:t>•  Verificar contra el paper encontró un error de la IA (mortalidad de élites).</a:t>
            </a:r>
          </a:p>
          <a:p>
            <a:pPr>
              <a:spcAft>
                <a:spcPts val="600"/>
              </a:spcAft>
            </a:pPr>
            <a:r>
              <a:rPr sz="1700">
                <a:solidFill>
                  <a:srgbClr val="1F2A44"/>
                </a:solidFill>
                <a:latin typeface="Calibri"/>
              </a:rPr>
              <a:t>•  Lo corregimos con un test y rehicimos los resultados.</a:t>
            </a:r>
          </a:p>
          <a:p>
            <a:pPr>
              <a:spcAft>
                <a:spcPts val="600"/>
              </a:spcAft>
            </a:pPr>
            <a:r>
              <a:rPr sz="1700">
                <a:solidFill>
                  <a:srgbClr val="1F2A44"/>
                </a:solidFill>
                <a:latin typeface="Calibri"/>
              </a:rPr>
              <a:t>•  Lección: la IA acelera; la verificación es nuestra.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